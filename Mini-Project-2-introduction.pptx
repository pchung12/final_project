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6858000" cy="9144000"/>
  <p:embeddedFontLst>
    <p:embeddedFont>
      <p:font typeface="Helvetica Neue" panose="02020500000000000000" charset="0"/>
      <p:regular r:id="rId85"/>
      <p:bold r:id="rId86"/>
      <p:italic r:id="rId87"/>
      <p:boldItalic r:id="rId88"/>
    </p:embeddedFont>
    <p:embeddedFont>
      <p:font typeface="Open Sans" panose="020B0606030504020204" pitchFamily="34" charset="0"/>
      <p:regular r:id="rId89"/>
      <p:bold r:id="rId90"/>
      <p:italic r:id="rId91"/>
      <p:boldItalic r:id="rId92"/>
    </p:embeddedFont>
    <p:embeddedFont>
      <p:font typeface="Open Sans Light" panose="020F0502020204030204" pitchFamily="34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9" name="Google Shape;160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0" name="Google Shape;1640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  <a:defRPr sz="2400"/>
            </a:lvl1pPr>
            <a:lvl2pPr marL="914400" lvl="1" indent="-3683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  <a:defRPr sz="22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ctr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20624" y="1081941"/>
            <a:ext cx="10543032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Open Sans Light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20624" y="3961666"/>
            <a:ext cx="105430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420624" y="1825625"/>
            <a:ext cx="5599176" cy="420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⬩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⬩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oto Sans Symbols"/>
              <a:buChar char="⬩"/>
              <a:defRPr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Char char="⬩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Noto Sans Symbols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4791456" cy="4206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⬩"/>
              <a:defRPr/>
            </a:lvl1pPr>
            <a:lvl2pPr marL="914400" lvl="1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oto Sans Symbols"/>
              <a:buChar char="⬩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oto Sans Symbols"/>
              <a:buChar char="⬩"/>
              <a:defRPr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Noto Sans Symbols"/>
              <a:buChar char="⬩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Noto Sans Symbols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20624" y="1681163"/>
            <a:ext cx="554969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3200" b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420624" y="2505075"/>
            <a:ext cx="5549697" cy="35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  <a:defRPr sz="2400"/>
            </a:lvl1pPr>
            <a:lvl2pPr marL="914400" lvl="1" indent="-3683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  <a:defRPr sz="22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5970321" y="1681163"/>
            <a:ext cx="499333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3200" b="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5970321" y="2505075"/>
            <a:ext cx="4993335" cy="3526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  <a:defRPr sz="2400"/>
            </a:lvl1pPr>
            <a:lvl2pPr marL="914400" lvl="1" indent="-3683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  <a:defRPr sz="22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20624" y="938306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20624" y="457200"/>
            <a:ext cx="1054303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5183188" y="2199340"/>
            <a:ext cx="5780468" cy="366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  <a:defRPr sz="2400"/>
            </a:lvl1pPr>
            <a:lvl2pPr marL="914400" lvl="1" indent="-3683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  <a:defRPr sz="2200"/>
            </a:lvl2pPr>
            <a:lvl3pPr marL="1371600" lvl="2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 sz="1800"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⬩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420624" y="2199340"/>
            <a:ext cx="4489180" cy="366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20624" y="457200"/>
            <a:ext cx="44891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Open Sans Light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420624" y="2199340"/>
            <a:ext cx="4489180" cy="366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3516471" y="-1270222"/>
            <a:ext cx="4351338" cy="1054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⬩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20624" y="1825625"/>
            <a:ext cx="1054303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⬩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⬩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⬩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⬩"/>
              <a:defRPr sz="1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⬩"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503152" y="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422899" y="3854831"/>
            <a:ext cx="5278995" cy="215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Mini Project 2</a:t>
            </a:r>
            <a:br>
              <a:rPr lang="en-US" sz="4800"/>
            </a:br>
            <a:r>
              <a:rPr lang="en-US" sz="4800"/>
              <a:t>Mini Chess AI</a:t>
            </a:r>
            <a:endParaRPr sz="4800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6156182" y="3854830"/>
            <a:ext cx="4700133" cy="215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Due: 6/20</a:t>
            </a:r>
            <a:endParaRPr/>
          </a:p>
          <a:p>
            <a:pPr marL="0" lvl="0" indent="0" algn="l" rtl="0">
              <a:lnSpc>
                <a:spcPct val="145454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US" sz="2200"/>
              <a:t>Demo: 6/21 online</a:t>
            </a:r>
            <a:endParaRPr sz="2200"/>
          </a:p>
        </p:txBody>
      </p:sp>
      <p:sp>
        <p:nvSpPr>
          <p:cNvPr id="91" name="Google Shape;91;p13"/>
          <p:cNvSpPr/>
          <p:nvPr/>
        </p:nvSpPr>
        <p:spPr>
          <a:xfrm rot="10800000">
            <a:off x="0" y="0"/>
            <a:ext cx="422144" cy="3599020"/>
          </a:xfrm>
          <a:prstGeom prst="rect">
            <a:avLst/>
          </a:prstGeom>
          <a:solidFill>
            <a:srgbClr val="418AB3">
              <a:alpha val="25098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p13" descr="點狀網"/>
          <p:cNvPicPr preferRelativeResize="0"/>
          <p:nvPr/>
        </p:nvPicPr>
        <p:blipFill rotWithShape="1">
          <a:blip r:embed="rId3">
            <a:alphaModFix/>
          </a:blip>
          <a:srcRect t="25078" r="-1" b="2352"/>
          <a:stretch/>
        </p:blipFill>
        <p:spPr>
          <a:xfrm>
            <a:off x="422145" y="10"/>
            <a:ext cx="11082529" cy="35990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3"/>
          <p:cNvCxnSpPr/>
          <p:nvPr/>
        </p:nvCxnSpPr>
        <p:spPr>
          <a:xfrm rot="10800000">
            <a:off x="11496184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cxnSp>
        <p:nvCxnSpPr>
          <p:cNvPr id="94" name="Google Shape;94;p13"/>
          <p:cNvCxnSpPr/>
          <p:nvPr/>
        </p:nvCxnSpPr>
        <p:spPr>
          <a:xfrm>
            <a:off x="1524" y="6172200"/>
            <a:ext cx="12192000" cy="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161616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>
                <a:solidFill>
                  <a:srgbClr val="0C0C0C"/>
                </a:solidFill>
              </a:rPr>
              <a:t>Design and implement an AI which can play MiniChess</a:t>
            </a:r>
            <a:endParaRPr>
              <a:solidFill>
                <a:srgbClr val="0C0C0C"/>
              </a:solidFill>
            </a:endParaRPr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C0C0C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>
                <a:solidFill>
                  <a:srgbClr val="0C0C0C"/>
                </a:solidFill>
              </a:rPr>
              <a:t>Read the current board and output the next move</a:t>
            </a:r>
            <a:endParaRPr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C0C0C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>
                <a:solidFill>
                  <a:srgbClr val="0C0C0C"/>
                </a:solidFill>
              </a:rPr>
              <a:t>Design a state value function to evaluate the score of the board</a:t>
            </a:r>
            <a:endParaRPr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0C0C0C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>
                <a:solidFill>
                  <a:srgbClr val="0C0C0C"/>
                </a:solidFill>
              </a:rPr>
              <a:t>Determine the next move with tree search algorithm</a:t>
            </a:r>
            <a:endParaRPr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0C0C0C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Chess</a:t>
            </a:r>
            <a:endParaRPr/>
          </a:p>
        </p:txBody>
      </p:sp>
      <p:pic>
        <p:nvPicPr>
          <p:cNvPr id="124" name="Google Shape;124;p18" descr="Chess.com - Schach Online Spielen Kostenlos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588544" y="1825625"/>
            <a:ext cx="4206875" cy="42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22898" y="302859"/>
            <a:ext cx="4548657" cy="28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Mini Chess</a:t>
            </a:r>
            <a:endParaRPr sz="4800"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422898" y="3354749"/>
            <a:ext cx="4548656" cy="258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⬩"/>
            </a:pPr>
            <a:r>
              <a:rPr lang="en-US" sz="1800"/>
              <a:t>Has lot of variance.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</a:pPr>
            <a:r>
              <a:rPr lang="en-US" sz="1800"/>
              <a:t>We use “</a:t>
            </a:r>
            <a:r>
              <a:rPr lang="en-US" sz="1800" b="1" i="0">
                <a:latin typeface="Arial"/>
                <a:ea typeface="Arial"/>
                <a:cs typeface="Arial"/>
                <a:sym typeface="Arial"/>
              </a:rPr>
              <a:t>MinitChess</a:t>
            </a:r>
            <a:r>
              <a:rPr lang="en-US" sz="1800"/>
              <a:t>” in this project</a:t>
            </a:r>
            <a:endParaRPr sz="1800"/>
          </a:p>
        </p:txBody>
      </p:sp>
      <p:cxnSp>
        <p:nvCxnSpPr>
          <p:cNvPr id="134" name="Google Shape;134;p19"/>
          <p:cNvCxnSpPr/>
          <p:nvPr/>
        </p:nvCxnSpPr>
        <p:spPr>
          <a:xfrm rot="10800000">
            <a:off x="11496184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cxnSp>
        <p:nvCxnSpPr>
          <p:cNvPr id="135" name="Google Shape;135;p19"/>
          <p:cNvCxnSpPr/>
          <p:nvPr/>
        </p:nvCxnSpPr>
        <p:spPr>
          <a:xfrm>
            <a:off x="1524" y="6172200"/>
            <a:ext cx="12192000" cy="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sp>
        <p:nvSpPr>
          <p:cNvPr id="136" name="Google Shape;136;p19"/>
          <p:cNvSpPr/>
          <p:nvPr/>
        </p:nvSpPr>
        <p:spPr>
          <a:xfrm rot="10800000">
            <a:off x="6109854" y="685796"/>
            <a:ext cx="5391685" cy="5492009"/>
          </a:xfrm>
          <a:prstGeom prst="rect">
            <a:avLst/>
          </a:prstGeom>
          <a:solidFill>
            <a:srgbClr val="418AB3">
              <a:alpha val="2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9" descr="一張含有 正方形 的圖片&#10;&#10;自動產生的描述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3278" y="1414525"/>
            <a:ext cx="3013187" cy="407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Basic rules </a:t>
            </a:r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36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We have 2 players: white and black. White plays first.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If the target place of your piece has an opponent’s piece, you can take it out</a:t>
            </a:r>
            <a:br>
              <a:rPr lang="en-US" dirty="0"/>
            </a:br>
            <a:r>
              <a:rPr lang="en-US" dirty="0"/>
              <a:t>(or, catch the piece)</a:t>
            </a:r>
            <a:r>
              <a:rPr lang="en-US" altLang="zh-TW" dirty="0"/>
              <a:t>.</a:t>
            </a:r>
            <a:r>
              <a:rPr lang="en-US" dirty="0"/>
              <a:t> You cannot take your own piece.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If a player can catch the opponent’s king in its turn, it wins.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So a player can only win in their turn or lose in the opponent’s turn.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If a player makes an illegal move, he/she loses.</a:t>
            </a:r>
            <a:endParaRPr dirty="0"/>
          </a:p>
          <a:p>
            <a:pPr marL="228600" lvl="0" indent="-8763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Our rule is simplified; any different rules will be marked in red: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</a:rPr>
              <a:t>There is no castling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</a:rPr>
              <a:t>Pawn can only promote to Queen (detail in the next section)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Basic rules 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36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If 2 players have almost the same ability, it is very likely to get a draw and fall into an infinite loop. So we add these rules: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>
                <a:solidFill>
                  <a:srgbClr val="595959"/>
                </a:solidFill>
              </a:rPr>
              <a:t>If it cost over 50 step(25 turn), we count the piece value.</a:t>
            </a:r>
            <a:br>
              <a:rPr lang="en-US" dirty="0">
                <a:solidFill>
                  <a:srgbClr val="595959"/>
                </a:solidFill>
              </a:rPr>
            </a:br>
            <a:r>
              <a:rPr lang="en-US" dirty="0">
                <a:solidFill>
                  <a:srgbClr val="595959"/>
                </a:solidFill>
              </a:rPr>
              <a:t>Queen=20, Bishop=8, Knight=7, Rook=6, Pawn=2.</a:t>
            </a:r>
            <a:br>
              <a:rPr lang="en-US" dirty="0">
                <a:solidFill>
                  <a:srgbClr val="595959"/>
                </a:solidFill>
              </a:rPr>
            </a:br>
            <a:r>
              <a:rPr lang="en-US" dirty="0">
                <a:solidFill>
                  <a:srgbClr val="595959"/>
                </a:solidFill>
              </a:rPr>
              <a:t>The player with the higher piece value after 50 steps wins.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>
                <a:solidFill>
                  <a:srgbClr val="595959"/>
                </a:solidFill>
              </a:rPr>
              <a:t>If both side has same value, it is a draw.</a:t>
            </a:r>
            <a:endParaRPr dirty="0"/>
          </a:p>
          <a:p>
            <a:pPr marL="685800" lvl="1" indent="-228600"/>
            <a:r>
              <a:rPr lang="en-US" dirty="0">
                <a:solidFill>
                  <a:srgbClr val="595959"/>
                </a:solidFill>
              </a:rPr>
              <a:t>The Queen, which is promoted by Pawn, counts as a queen.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Piece Movement</a:t>
            </a:r>
            <a:endParaRPr/>
          </a:p>
        </p:txBody>
      </p:sp>
      <p:pic>
        <p:nvPicPr>
          <p:cNvPr id="155" name="Google Shape;155;p22" descr="How Chess Pieces Move - The Ki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81538" y="2365129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 descr="How Chess Pieces Move - The Quee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3426" y="2309812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420624" y="1690688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King and Queen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Piece Movement</a:t>
            </a:r>
            <a:endParaRPr/>
          </a:p>
        </p:txBody>
      </p:sp>
      <p:pic>
        <p:nvPicPr>
          <p:cNvPr id="163" name="Google Shape;163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81538" y="2365129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3426" y="2309812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420624" y="1690688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Rook and Bishop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Piece Movement</a:t>
            </a:r>
            <a:endParaRPr/>
          </a:p>
        </p:txBody>
      </p:sp>
      <p:pic>
        <p:nvPicPr>
          <p:cNvPr id="171" name="Google Shape;17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2365129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420624" y="1690688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Knight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Knight can “jump over pieces”</a:t>
            </a:r>
            <a:endParaRPr/>
          </a:p>
          <a:p>
            <a:pPr marL="6858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⬩"/>
            </a:pPr>
            <a:r>
              <a:rPr lang="en-US" sz="22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It cannot be blocked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Piece Movement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420624" y="1690688"/>
            <a:ext cx="11623209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Pawn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Every turn, pawn can move forward one step.</a:t>
            </a:r>
            <a:endParaRPr dirty="0"/>
          </a:p>
          <a:p>
            <a:pPr marL="6858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⬩"/>
            </a:pPr>
            <a:r>
              <a:rPr lang="en-US" sz="22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Even in the first move of that pawn.</a:t>
            </a:r>
            <a:endParaRPr dirty="0"/>
          </a:p>
          <a:p>
            <a:pPr marL="6858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⬩"/>
            </a:pPr>
            <a:r>
              <a:rPr lang="en-US" sz="22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With ↑ this rule, there is no </a:t>
            </a:r>
            <a:r>
              <a:rPr lang="en-US" sz="2200" b="0" i="0" u="none" strike="noStrike" cap="none" dirty="0" err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passant.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left/right forward is the opponent’s piece, you can catch it.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When a pawn moves to the last row (6 for white, 1 for black),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it becomes Queen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(promotion).</a:t>
            </a:r>
            <a:endParaRPr dirty="0"/>
          </a:p>
          <a:p>
            <a:pPr marL="6858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⬩"/>
            </a:pPr>
            <a:r>
              <a:rPr lang="en-US" sz="2200" b="0" i="0" u="none" strike="noStrike" cap="none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Promotion and Move to Last Row will happen simultaneously.</a:t>
            </a:r>
            <a:endParaRPr dirty="0"/>
          </a:p>
        </p:txBody>
      </p:sp>
      <p:pic>
        <p:nvPicPr>
          <p:cNvPr id="179" name="Google Shape;179;p25" descr="Pawn Cap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3075" y="0"/>
            <a:ext cx="28289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0C0C0C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State Value Function</a:t>
            </a:r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The program should decide which move is better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We can pick the move that leads to the board with the highest score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Thus, we need a function to evaluate the score of the board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It is the “state value function”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State Value Function</a:t>
            </a:r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State =&gt; the board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Value =&gt; how “good” the board is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Function =&gt; given a board, output the value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State Value Function</a:t>
            </a:r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Super simple Example: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Give every piece a score (king=inf, queen=100, …)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Your pieces – Opponent’s pieces = value of the state.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Some upgrade: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A piece in a different place has a different value.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State Value Function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61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Keywords for more complicated algorithm: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KP (King-Piece), PP (Piece-Piece), KPPT (King-Piece-Piece-Turn)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KKPT (King-King-Piece-Turn with King-Piece-Piece)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MCTS (Monte Carlos Tree Search)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 err="1"/>
              <a:t>AlphaZero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Leela Chess Zero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 err="1"/>
              <a:t>DLShogi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NNUE (Efficiently Updatable Neural Network)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This is the SOTA for Chess and Shogi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 err="1"/>
              <a:t>Stockfish</a:t>
            </a:r>
            <a:r>
              <a:rPr lang="en-US" dirty="0"/>
              <a:t> (2022 TCEC 1</a:t>
            </a:r>
            <a:r>
              <a:rPr lang="en-US" baseline="30000" dirty="0"/>
              <a:t>st</a:t>
            </a:r>
            <a:r>
              <a:rPr lang="en-US" dirty="0"/>
              <a:t> place, 2022 CCC 1</a:t>
            </a:r>
            <a:r>
              <a:rPr lang="en-US" baseline="30000" dirty="0"/>
              <a:t>st</a:t>
            </a:r>
            <a:r>
              <a:rPr lang="en-US" dirty="0"/>
              <a:t> place)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 err="1"/>
              <a:t>水匠</a:t>
            </a:r>
            <a:r>
              <a:rPr lang="en-US" dirty="0"/>
              <a:t> (第3回世界将棋AI電竜戦優勝)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571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Suppose we have three valid moves, A, B, and C:</a:t>
            </a:r>
            <a:endParaRPr/>
          </a:p>
        </p:txBody>
      </p:sp>
      <p:sp>
        <p:nvSpPr>
          <p:cNvPr id="215" name="Google Shape;215;p31"/>
          <p:cNvSpPr/>
          <p:nvPr/>
        </p:nvSpPr>
        <p:spPr>
          <a:xfrm>
            <a:off x="5447930" y="2531908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</a:t>
            </a:r>
            <a:endParaRPr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2377736" y="4693914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After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A</a:t>
            </a:r>
            <a:endParaRPr sz="1100" dirty="0"/>
          </a:p>
        </p:txBody>
      </p:sp>
      <p:sp>
        <p:nvSpPr>
          <p:cNvPr id="217" name="Google Shape;217;p31"/>
          <p:cNvSpPr/>
          <p:nvPr/>
        </p:nvSpPr>
        <p:spPr>
          <a:xfrm>
            <a:off x="5447930" y="4664029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After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B</a:t>
            </a:r>
            <a:endParaRPr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8518124" y="4664029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After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C</a:t>
            </a:r>
            <a:endParaRPr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9" name="Google Shape;219;p31"/>
          <p:cNvCxnSpPr>
            <a:stCxn id="215" idx="4"/>
            <a:endCxn id="216" idx="0"/>
          </p:cNvCxnSpPr>
          <p:nvPr/>
        </p:nvCxnSpPr>
        <p:spPr>
          <a:xfrm flipH="1">
            <a:off x="3025800" y="3828048"/>
            <a:ext cx="3070200" cy="86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20" name="Google Shape;220;p31"/>
          <p:cNvCxnSpPr>
            <a:stCxn id="215" idx="4"/>
            <a:endCxn id="217" idx="0"/>
          </p:cNvCxnSpPr>
          <p:nvPr/>
        </p:nvCxnSpPr>
        <p:spPr>
          <a:xfrm>
            <a:off x="6096000" y="3828048"/>
            <a:ext cx="0" cy="83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21" name="Google Shape;221;p31"/>
          <p:cNvCxnSpPr>
            <a:stCxn id="215" idx="4"/>
            <a:endCxn id="218" idx="0"/>
          </p:cNvCxnSpPr>
          <p:nvPr/>
        </p:nvCxnSpPr>
        <p:spPr>
          <a:xfrm>
            <a:off x="6096000" y="3828048"/>
            <a:ext cx="3070200" cy="83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22" name="Google Shape;222;p31"/>
          <p:cNvSpPr txBox="1"/>
          <p:nvPr/>
        </p:nvSpPr>
        <p:spPr>
          <a:xfrm>
            <a:off x="3799643" y="3828048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A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190479" y="4106786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B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7486835" y="3876706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C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420623" y="365125"/>
            <a:ext cx="112972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 Light"/>
              <a:buNone/>
            </a:pPr>
            <a:r>
              <a:rPr lang="en-US"/>
              <a:t>Use value function to pick the next move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571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After evaluating the state values, we have 20, -15, and 30</a:t>
            </a:r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5447930" y="2531908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2377736" y="4693914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 sz="1100"/>
          </a:p>
        </p:txBody>
      </p:sp>
      <p:sp>
        <p:nvSpPr>
          <p:cNvPr id="233" name="Google Shape;233;p32"/>
          <p:cNvSpPr/>
          <p:nvPr/>
        </p:nvSpPr>
        <p:spPr>
          <a:xfrm>
            <a:off x="5447930" y="4664029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-15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8518124" y="4664029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5" name="Google Shape;235;p32"/>
          <p:cNvCxnSpPr>
            <a:stCxn id="231" idx="4"/>
            <a:endCxn id="232" idx="0"/>
          </p:cNvCxnSpPr>
          <p:nvPr/>
        </p:nvCxnSpPr>
        <p:spPr>
          <a:xfrm flipH="1">
            <a:off x="3025800" y="3828048"/>
            <a:ext cx="3070200" cy="86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36" name="Google Shape;236;p32"/>
          <p:cNvCxnSpPr>
            <a:stCxn id="231" idx="4"/>
            <a:endCxn id="233" idx="0"/>
          </p:cNvCxnSpPr>
          <p:nvPr/>
        </p:nvCxnSpPr>
        <p:spPr>
          <a:xfrm>
            <a:off x="6096000" y="3828048"/>
            <a:ext cx="0" cy="83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37" name="Google Shape;237;p32"/>
          <p:cNvCxnSpPr>
            <a:stCxn id="231" idx="4"/>
            <a:endCxn id="234" idx="0"/>
          </p:cNvCxnSpPr>
          <p:nvPr/>
        </p:nvCxnSpPr>
        <p:spPr>
          <a:xfrm>
            <a:off x="6096000" y="3828048"/>
            <a:ext cx="3070200" cy="83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38" name="Google Shape;238;p32"/>
          <p:cNvSpPr txBox="1"/>
          <p:nvPr/>
        </p:nvSpPr>
        <p:spPr>
          <a:xfrm>
            <a:off x="3799643" y="3828048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A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5190479" y="4106786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B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7486835" y="3876706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C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/>
          </p:nvPr>
        </p:nvSpPr>
        <p:spPr>
          <a:xfrm>
            <a:off x="420623" y="365125"/>
            <a:ext cx="112972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 Light"/>
              <a:buNone/>
            </a:pPr>
            <a:r>
              <a:rPr lang="en-US"/>
              <a:t>Use value function to pick the next move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571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We pick move C to be our next step since it leads to the highest value</a:t>
            </a: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5447930" y="2531908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Current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2377736" y="4693914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endParaRPr sz="1100"/>
          </a:p>
        </p:txBody>
      </p:sp>
      <p:sp>
        <p:nvSpPr>
          <p:cNvPr id="249" name="Google Shape;249;p33"/>
          <p:cNvSpPr/>
          <p:nvPr/>
        </p:nvSpPr>
        <p:spPr>
          <a:xfrm>
            <a:off x="5447930" y="4664029"/>
            <a:ext cx="1296140" cy="129614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-15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8518124" y="4664029"/>
            <a:ext cx="1296140" cy="129614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Value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30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1" name="Google Shape;251;p33"/>
          <p:cNvCxnSpPr>
            <a:stCxn id="247" idx="4"/>
            <a:endCxn id="248" idx="0"/>
          </p:cNvCxnSpPr>
          <p:nvPr/>
        </p:nvCxnSpPr>
        <p:spPr>
          <a:xfrm flipH="1">
            <a:off x="3025800" y="3828048"/>
            <a:ext cx="3070200" cy="86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52" name="Google Shape;252;p33"/>
          <p:cNvCxnSpPr>
            <a:stCxn id="247" idx="4"/>
            <a:endCxn id="249" idx="0"/>
          </p:cNvCxnSpPr>
          <p:nvPr/>
        </p:nvCxnSpPr>
        <p:spPr>
          <a:xfrm>
            <a:off x="6096000" y="3828048"/>
            <a:ext cx="0" cy="836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253" name="Google Shape;253;p33"/>
          <p:cNvCxnSpPr>
            <a:stCxn id="247" idx="4"/>
            <a:endCxn id="250" idx="0"/>
          </p:cNvCxnSpPr>
          <p:nvPr/>
        </p:nvCxnSpPr>
        <p:spPr>
          <a:xfrm>
            <a:off x="6096000" y="3828048"/>
            <a:ext cx="3070200" cy="836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254" name="Google Shape;254;p33"/>
          <p:cNvSpPr txBox="1"/>
          <p:nvPr/>
        </p:nvSpPr>
        <p:spPr>
          <a:xfrm>
            <a:off x="3799643" y="3828048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A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5190479" y="4106786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Move B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7631097" y="3508445"/>
            <a:ext cx="905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Move C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420623" y="365125"/>
            <a:ext cx="112972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pen Sans Light"/>
              <a:buNone/>
            </a:pPr>
            <a:r>
              <a:rPr lang="en-US"/>
              <a:t>Use value function to pick the next move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63" name="Google Shape;263;p34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chemeClr val="dk1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Minimax</a:t>
            </a:r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In the previous example, we only look forward for one step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However, the opponent will try its best to defeat you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Greedy choice is not always the best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We should </a:t>
            </a:r>
            <a:r>
              <a:rPr lang="en-US" dirty="0">
                <a:solidFill>
                  <a:srgbClr val="FF0000"/>
                </a:solidFill>
              </a:rPr>
              <a:t>look forward to more steps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simulate how the opponent thinks </a:t>
            </a:r>
            <a:r>
              <a:rPr lang="en-US" dirty="0"/>
              <a:t>to make the </a:t>
            </a:r>
            <a:r>
              <a:rPr lang="en-US" dirty="0">
                <a:solidFill>
                  <a:srgbClr val="FF0000"/>
                </a:solidFill>
              </a:rPr>
              <a:t>best choice</a:t>
            </a:r>
            <a:r>
              <a:rPr lang="en-US" dirty="0"/>
              <a:t> with the </a:t>
            </a:r>
            <a:r>
              <a:rPr lang="en-US" dirty="0">
                <a:solidFill>
                  <a:srgbClr val="FF0000"/>
                </a:solidFill>
              </a:rPr>
              <a:t>least risk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Minimax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Player tries its best to win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Player picks the move with the highest score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Opponent tries its best to defeat the player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Opponent picks the move with the lowest “player’s value function” score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That is, the opponent tends to </a:t>
            </a:r>
            <a:r>
              <a:rPr lang="en-US" dirty="0">
                <a:solidFill>
                  <a:srgbClr val="FF0000"/>
                </a:solidFill>
              </a:rPr>
              <a:t>give the player the worst board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The Minimax algorithm is based on this player-opponent interaction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Minimax Pseudocode</a:t>
            </a:r>
            <a:endParaRPr/>
          </a:p>
        </p:txBody>
      </p:sp>
      <p:pic>
        <p:nvPicPr>
          <p:cNvPr id="281" name="Google Shape;281;p3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19456" y="1690688"/>
            <a:ext cx="935308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/>
        </p:nvSpPr>
        <p:spPr>
          <a:xfrm>
            <a:off x="3648351" y="6117964"/>
            <a:ext cx="48952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Source: https://en.wikipedia.org/wiki/Minimax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Example</a:t>
            </a:r>
            <a:endParaRPr sz="4800"/>
          </a:p>
        </p:txBody>
      </p:sp>
      <p:sp>
        <p:nvSpPr>
          <p:cNvPr id="288" name="Google Shape;288;p38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38"/>
          <p:cNvSpPr/>
          <p:nvPr/>
        </p:nvSpPr>
        <p:spPr>
          <a:xfrm>
            <a:off x="5764924" y="1359612"/>
            <a:ext cx="641133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8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38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38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8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0" name="Google Shape;300;p38"/>
          <p:cNvCxnSpPr>
            <a:stCxn id="289" idx="2"/>
            <a:endCxn id="288" idx="0"/>
          </p:cNvCxnSpPr>
          <p:nvPr/>
        </p:nvCxnSpPr>
        <p:spPr>
          <a:xfrm flipH="1">
            <a:off x="4566891" y="2021764"/>
            <a:ext cx="15186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1" name="Google Shape;301;p38"/>
          <p:cNvCxnSpPr>
            <a:stCxn id="288" idx="4"/>
            <a:endCxn id="291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2" name="Google Shape;302;p38"/>
          <p:cNvCxnSpPr>
            <a:stCxn id="292" idx="0"/>
            <a:endCxn id="288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3" name="Google Shape;303;p38"/>
          <p:cNvCxnSpPr>
            <a:stCxn id="295" idx="0"/>
            <a:endCxn id="291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4" name="Google Shape;304;p38"/>
          <p:cNvCxnSpPr>
            <a:stCxn id="294" idx="0"/>
            <a:endCxn id="291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5" name="Google Shape;305;p38"/>
          <p:cNvCxnSpPr>
            <a:stCxn id="296" idx="0"/>
            <a:endCxn id="292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6" name="Google Shape;306;p38"/>
          <p:cNvCxnSpPr>
            <a:stCxn id="297" idx="0"/>
            <a:endCxn id="292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7" name="Google Shape;307;p38"/>
          <p:cNvCxnSpPr>
            <a:stCxn id="298" idx="0"/>
            <a:endCxn id="292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8" name="Google Shape;308;p38"/>
          <p:cNvCxnSpPr>
            <a:stCxn id="290" idx="0"/>
            <a:endCxn id="289" idx="2"/>
          </p:cNvCxnSpPr>
          <p:nvPr/>
        </p:nvCxnSpPr>
        <p:spPr>
          <a:xfrm rot="10800000">
            <a:off x="6085502" y="2021741"/>
            <a:ext cx="15345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9" name="Google Shape;309;p38"/>
          <p:cNvCxnSpPr>
            <a:stCxn id="293" idx="0"/>
            <a:endCxn id="290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0" name="Google Shape;310;p38"/>
          <p:cNvCxnSpPr>
            <a:stCxn id="299" idx="0"/>
            <a:endCxn id="293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1" name="Google Shape;311;p38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10406490" y="1506022"/>
            <a:ext cx="13648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8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38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331" name="Google Shape;331;p39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39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39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39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39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39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3" name="Google Shape;343;p39"/>
          <p:cNvCxnSpPr>
            <a:stCxn id="332" idx="2"/>
            <a:endCxn id="331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4" name="Google Shape;344;p39"/>
          <p:cNvCxnSpPr>
            <a:stCxn id="331" idx="4"/>
            <a:endCxn id="334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5" name="Google Shape;345;p39"/>
          <p:cNvCxnSpPr>
            <a:stCxn id="335" idx="0"/>
            <a:endCxn id="331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6" name="Google Shape;346;p39"/>
          <p:cNvCxnSpPr>
            <a:stCxn id="338" idx="0"/>
            <a:endCxn id="334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7" name="Google Shape;347;p39"/>
          <p:cNvCxnSpPr>
            <a:stCxn id="337" idx="0"/>
            <a:endCxn id="334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8" name="Google Shape;348;p39"/>
          <p:cNvCxnSpPr>
            <a:stCxn id="339" idx="0"/>
            <a:endCxn id="335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9" name="Google Shape;349;p39"/>
          <p:cNvCxnSpPr>
            <a:stCxn id="340" idx="0"/>
            <a:endCxn id="335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0" name="Google Shape;350;p39"/>
          <p:cNvCxnSpPr>
            <a:stCxn id="341" idx="0"/>
            <a:endCxn id="335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1" name="Google Shape;351;p39"/>
          <p:cNvCxnSpPr>
            <a:stCxn id="333" idx="0"/>
            <a:endCxn id="332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2" name="Google Shape;352;p39"/>
          <p:cNvCxnSpPr>
            <a:stCxn id="336" idx="0"/>
            <a:endCxn id="333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3" name="Google Shape;353;p39"/>
          <p:cNvCxnSpPr>
            <a:stCxn id="342" idx="0"/>
            <a:endCxn id="336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54" name="Google Shape;354;p39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39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39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39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39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39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39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39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10406490" y="1506022"/>
            <a:ext cx="15515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374" name="Google Shape;374;p40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40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40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40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40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40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40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86" name="Google Shape;386;p40"/>
          <p:cNvCxnSpPr>
            <a:stCxn id="375" idx="2"/>
            <a:endCxn id="374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87" name="Google Shape;387;p40"/>
          <p:cNvCxnSpPr>
            <a:stCxn id="374" idx="4"/>
            <a:endCxn id="377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88" name="Google Shape;388;p40"/>
          <p:cNvCxnSpPr>
            <a:stCxn id="378" idx="0"/>
            <a:endCxn id="374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89" name="Google Shape;389;p40"/>
          <p:cNvCxnSpPr>
            <a:stCxn id="381" idx="0"/>
            <a:endCxn id="377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0" name="Google Shape;390;p40"/>
          <p:cNvCxnSpPr>
            <a:stCxn id="380" idx="0"/>
            <a:endCxn id="377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1" name="Google Shape;391;p40"/>
          <p:cNvCxnSpPr>
            <a:stCxn id="382" idx="0"/>
            <a:endCxn id="378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2" name="Google Shape;392;p40"/>
          <p:cNvCxnSpPr>
            <a:stCxn id="383" idx="0"/>
            <a:endCxn id="378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3" name="Google Shape;393;p40"/>
          <p:cNvCxnSpPr>
            <a:stCxn id="384" idx="0"/>
            <a:endCxn id="378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4" name="Google Shape;394;p40"/>
          <p:cNvCxnSpPr>
            <a:stCxn id="376" idx="0"/>
            <a:endCxn id="375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5" name="Google Shape;395;p40"/>
          <p:cNvCxnSpPr>
            <a:stCxn id="379" idx="0"/>
            <a:endCxn id="376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6" name="Google Shape;396;p40"/>
          <p:cNvCxnSpPr>
            <a:stCxn id="385" idx="0"/>
            <a:endCxn id="379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7" name="Google Shape;397;p40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40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40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40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40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40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40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40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40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40"/>
          <p:cNvSpPr txBox="1"/>
          <p:nvPr/>
        </p:nvSpPr>
        <p:spPr>
          <a:xfrm>
            <a:off x="10406490" y="1506022"/>
            <a:ext cx="13648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Player picks the largest score</a:t>
            </a:r>
            <a:endParaRPr sz="4800"/>
          </a:p>
        </p:txBody>
      </p:sp>
      <p:sp>
        <p:nvSpPr>
          <p:cNvPr id="417" name="Google Shape;417;p41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p41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41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0" name="Google Shape;420;p41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41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9" name="Google Shape;429;p41"/>
          <p:cNvCxnSpPr>
            <a:stCxn id="418" idx="2"/>
            <a:endCxn id="417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0" name="Google Shape;430;p41"/>
          <p:cNvCxnSpPr>
            <a:stCxn id="417" idx="4"/>
            <a:endCxn id="420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>
            <a:stCxn id="421" idx="0"/>
            <a:endCxn id="417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2" name="Google Shape;432;p41"/>
          <p:cNvCxnSpPr>
            <a:stCxn id="424" idx="0"/>
            <a:endCxn id="420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3" name="Google Shape;433;p41"/>
          <p:cNvCxnSpPr>
            <a:stCxn id="423" idx="0"/>
            <a:endCxn id="420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4" name="Google Shape;434;p41"/>
          <p:cNvCxnSpPr>
            <a:stCxn id="425" idx="0"/>
            <a:endCxn id="421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5" name="Google Shape;435;p41"/>
          <p:cNvCxnSpPr>
            <a:stCxn id="426" idx="0"/>
            <a:endCxn id="421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6" name="Google Shape;436;p41"/>
          <p:cNvCxnSpPr>
            <a:stCxn id="427" idx="0"/>
            <a:endCxn id="421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7" name="Google Shape;437;p41"/>
          <p:cNvCxnSpPr>
            <a:stCxn id="419" idx="0"/>
            <a:endCxn id="418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8" name="Google Shape;438;p41"/>
          <p:cNvCxnSpPr>
            <a:stCxn id="422" idx="0"/>
            <a:endCxn id="419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39" name="Google Shape;439;p41"/>
          <p:cNvCxnSpPr>
            <a:stCxn id="428" idx="0"/>
            <a:endCxn id="422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0" name="Google Shape;440;p41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1" name="Google Shape;441;p41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41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5" name="Google Shape;445;p41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6" name="Google Shape;446;p41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41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p41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41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3" name="Google Shape;453;p41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10406490" y="1506022"/>
            <a:ext cx="13648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460" name="Google Shape;460;p42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42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6" name="Google Shape;466;p42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72" name="Google Shape;472;p42"/>
          <p:cNvCxnSpPr>
            <a:stCxn id="461" idx="2"/>
            <a:endCxn id="460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3" name="Google Shape;473;p42"/>
          <p:cNvCxnSpPr>
            <a:stCxn id="460" idx="4"/>
            <a:endCxn id="463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4" name="Google Shape;474;p42"/>
          <p:cNvCxnSpPr>
            <a:stCxn id="464" idx="0"/>
            <a:endCxn id="460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5" name="Google Shape;475;p42"/>
          <p:cNvCxnSpPr>
            <a:stCxn id="467" idx="0"/>
            <a:endCxn id="463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6" name="Google Shape;476;p42"/>
          <p:cNvCxnSpPr>
            <a:stCxn id="466" idx="0"/>
            <a:endCxn id="463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7" name="Google Shape;477;p42"/>
          <p:cNvCxnSpPr>
            <a:stCxn id="468" idx="0"/>
            <a:endCxn id="464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8" name="Google Shape;478;p42"/>
          <p:cNvCxnSpPr>
            <a:stCxn id="469" idx="0"/>
            <a:endCxn id="464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79" name="Google Shape;479;p42"/>
          <p:cNvCxnSpPr>
            <a:stCxn id="470" idx="0"/>
            <a:endCxn id="464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0" name="Google Shape;480;p42"/>
          <p:cNvCxnSpPr>
            <a:stCxn id="462" idx="0"/>
            <a:endCxn id="461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1" name="Google Shape;481;p42"/>
          <p:cNvCxnSpPr>
            <a:stCxn id="465" idx="0"/>
            <a:endCxn id="462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82" name="Google Shape;482;p42"/>
          <p:cNvCxnSpPr>
            <a:stCxn id="471" idx="0"/>
            <a:endCxn id="465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83" name="Google Shape;483;p42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42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42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42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42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p42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1" name="Google Shape;491;p42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2" name="Google Shape;492;p42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3" name="Google Shape;493;p42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5" name="Google Shape;495;p42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7" name="Google Shape;497;p42"/>
          <p:cNvSpPr txBox="1"/>
          <p:nvPr/>
        </p:nvSpPr>
        <p:spPr>
          <a:xfrm>
            <a:off x="10406490" y="1506022"/>
            <a:ext cx="13648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503" name="Google Shape;503;p43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43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43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p43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43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5" name="Google Shape;515;p43"/>
          <p:cNvCxnSpPr>
            <a:stCxn id="504" idx="2"/>
            <a:endCxn id="503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6" name="Google Shape;516;p43"/>
          <p:cNvCxnSpPr>
            <a:stCxn id="503" idx="4"/>
            <a:endCxn id="506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7" name="Google Shape;517;p43"/>
          <p:cNvCxnSpPr>
            <a:stCxn id="507" idx="0"/>
            <a:endCxn id="503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8" name="Google Shape;518;p43"/>
          <p:cNvCxnSpPr>
            <a:stCxn id="510" idx="0"/>
            <a:endCxn id="506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9" name="Google Shape;519;p43"/>
          <p:cNvCxnSpPr>
            <a:stCxn id="509" idx="0"/>
            <a:endCxn id="506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0" name="Google Shape;520;p43"/>
          <p:cNvCxnSpPr>
            <a:stCxn id="511" idx="0"/>
            <a:endCxn id="507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1" name="Google Shape;521;p43"/>
          <p:cNvCxnSpPr>
            <a:stCxn id="512" idx="0"/>
            <a:endCxn id="507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2" name="Google Shape;522;p43"/>
          <p:cNvCxnSpPr>
            <a:stCxn id="513" idx="0"/>
            <a:endCxn id="507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3" name="Google Shape;523;p43"/>
          <p:cNvCxnSpPr>
            <a:stCxn id="505" idx="0"/>
            <a:endCxn id="504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4" name="Google Shape;524;p43"/>
          <p:cNvCxnSpPr>
            <a:stCxn id="508" idx="0"/>
            <a:endCxn id="505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5" name="Google Shape;525;p43"/>
          <p:cNvCxnSpPr>
            <a:stCxn id="514" idx="0"/>
            <a:endCxn id="508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26" name="Google Shape;526;p43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p43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0" name="Google Shape;530;p43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1" name="Google Shape;531;p43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43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3" name="Google Shape;533;p43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4" name="Google Shape;534;p43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43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6" name="Google Shape;536;p43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43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43"/>
          <p:cNvSpPr txBox="1"/>
          <p:nvPr/>
        </p:nvSpPr>
        <p:spPr>
          <a:xfrm>
            <a:off x="10413136" y="1506022"/>
            <a:ext cx="13582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546" name="Google Shape;546;p44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58" name="Google Shape;558;p44"/>
          <p:cNvCxnSpPr>
            <a:stCxn id="547" idx="2"/>
            <a:endCxn id="546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59" name="Google Shape;559;p44"/>
          <p:cNvCxnSpPr>
            <a:stCxn id="546" idx="4"/>
            <a:endCxn id="549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0" name="Google Shape;560;p44"/>
          <p:cNvCxnSpPr>
            <a:stCxn id="550" idx="0"/>
            <a:endCxn id="546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1" name="Google Shape;561;p44"/>
          <p:cNvCxnSpPr>
            <a:stCxn id="553" idx="0"/>
            <a:endCxn id="549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2" name="Google Shape;562;p44"/>
          <p:cNvCxnSpPr>
            <a:stCxn id="552" idx="0"/>
            <a:endCxn id="549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3" name="Google Shape;563;p44"/>
          <p:cNvCxnSpPr>
            <a:stCxn id="554" idx="0"/>
            <a:endCxn id="550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4" name="Google Shape;564;p44"/>
          <p:cNvCxnSpPr>
            <a:stCxn id="555" idx="0"/>
            <a:endCxn id="550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5" name="Google Shape;565;p44"/>
          <p:cNvCxnSpPr>
            <a:stCxn id="556" idx="0"/>
            <a:endCxn id="550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6" name="Google Shape;566;p44"/>
          <p:cNvCxnSpPr>
            <a:stCxn id="548" idx="0"/>
            <a:endCxn id="547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7" name="Google Shape;567;p44"/>
          <p:cNvCxnSpPr>
            <a:stCxn id="551" idx="0"/>
            <a:endCxn id="548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68" name="Google Shape;568;p44"/>
          <p:cNvCxnSpPr>
            <a:stCxn id="557" idx="0"/>
            <a:endCxn id="551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69" name="Google Shape;569;p44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44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2" name="Google Shape;572;p44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44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p44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5" name="Google Shape;575;p44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44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2" name="Google Shape;582;p44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3" name="Google Shape;583;p44"/>
          <p:cNvSpPr txBox="1"/>
          <p:nvPr/>
        </p:nvSpPr>
        <p:spPr>
          <a:xfrm>
            <a:off x="10406490" y="1506022"/>
            <a:ext cx="130679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Player picks the largest score</a:t>
            </a:r>
            <a:endParaRPr sz="4800"/>
          </a:p>
        </p:txBody>
      </p:sp>
      <p:sp>
        <p:nvSpPr>
          <p:cNvPr id="589" name="Google Shape;589;p45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2" name="Google Shape;592;p45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p45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9" name="Google Shape;599;p45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45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01" name="Google Shape;601;p45"/>
          <p:cNvCxnSpPr>
            <a:stCxn id="590" idx="2"/>
            <a:endCxn id="589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2" name="Google Shape;602;p45"/>
          <p:cNvCxnSpPr>
            <a:stCxn id="589" idx="4"/>
            <a:endCxn id="592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3" name="Google Shape;603;p45"/>
          <p:cNvCxnSpPr>
            <a:stCxn id="593" idx="0"/>
            <a:endCxn id="589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4" name="Google Shape;604;p45"/>
          <p:cNvCxnSpPr>
            <a:stCxn id="596" idx="0"/>
            <a:endCxn id="592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5" name="Google Shape;605;p45"/>
          <p:cNvCxnSpPr>
            <a:stCxn id="595" idx="0"/>
            <a:endCxn id="592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6" name="Google Shape;606;p45"/>
          <p:cNvCxnSpPr>
            <a:stCxn id="597" idx="0"/>
            <a:endCxn id="593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7" name="Google Shape;607;p45"/>
          <p:cNvCxnSpPr>
            <a:stCxn id="598" idx="0"/>
            <a:endCxn id="593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8" name="Google Shape;608;p45"/>
          <p:cNvCxnSpPr>
            <a:stCxn id="599" idx="0"/>
            <a:endCxn id="593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09" name="Google Shape;609;p45"/>
          <p:cNvCxnSpPr>
            <a:stCxn id="591" idx="0"/>
            <a:endCxn id="590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10" name="Google Shape;610;p45"/>
          <p:cNvCxnSpPr>
            <a:stCxn id="594" idx="0"/>
            <a:endCxn id="591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11" name="Google Shape;611;p45"/>
          <p:cNvCxnSpPr>
            <a:stCxn id="600" idx="0"/>
            <a:endCxn id="594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12" name="Google Shape;612;p45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45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45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45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45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p45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45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p45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p45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4" name="Google Shape;624;p45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p45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6" name="Google Shape;626;p45"/>
          <p:cNvSpPr txBox="1"/>
          <p:nvPr/>
        </p:nvSpPr>
        <p:spPr>
          <a:xfrm>
            <a:off x="10406489" y="1506022"/>
            <a:ext cx="144851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Opponent picks the smallest score</a:t>
            </a:r>
            <a:endParaRPr sz="4800"/>
          </a:p>
        </p:txBody>
      </p:sp>
      <p:sp>
        <p:nvSpPr>
          <p:cNvPr id="632" name="Google Shape;632;p46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p46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4" name="Google Shape;634;p46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" name="Google Shape;635;p46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6" name="Google Shape;636;p46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7" name="Google Shape;637;p46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8" name="Google Shape;638;p46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9" name="Google Shape;639;p46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0" name="Google Shape;640;p46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46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3" name="Google Shape;643;p46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4" name="Google Shape;644;p46"/>
          <p:cNvCxnSpPr>
            <a:stCxn id="633" idx="2"/>
            <a:endCxn id="632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45" name="Google Shape;645;p46"/>
          <p:cNvCxnSpPr>
            <a:stCxn id="632" idx="4"/>
            <a:endCxn id="635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46" name="Google Shape;646;p46"/>
          <p:cNvCxnSpPr>
            <a:stCxn id="636" idx="0"/>
            <a:endCxn id="632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47" name="Google Shape;647;p46"/>
          <p:cNvCxnSpPr>
            <a:stCxn id="639" idx="0"/>
            <a:endCxn id="635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48" name="Google Shape;648;p46"/>
          <p:cNvCxnSpPr>
            <a:stCxn id="638" idx="0"/>
            <a:endCxn id="635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49" name="Google Shape;649;p46"/>
          <p:cNvCxnSpPr>
            <a:stCxn id="640" idx="0"/>
            <a:endCxn id="636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50" name="Google Shape;650;p46"/>
          <p:cNvCxnSpPr>
            <a:stCxn id="641" idx="0"/>
            <a:endCxn id="636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51" name="Google Shape;651;p46"/>
          <p:cNvCxnSpPr>
            <a:stCxn id="642" idx="0"/>
            <a:endCxn id="636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52" name="Google Shape;652;p46"/>
          <p:cNvCxnSpPr>
            <a:stCxn id="634" idx="0"/>
            <a:endCxn id="633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53" name="Google Shape;653;p46"/>
          <p:cNvCxnSpPr>
            <a:stCxn id="637" idx="0"/>
            <a:endCxn id="634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54" name="Google Shape;654;p46"/>
          <p:cNvCxnSpPr>
            <a:stCxn id="643" idx="0"/>
            <a:endCxn id="637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55" name="Google Shape;655;p46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p46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46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p46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p46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46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46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2" name="Google Shape;662;p46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46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46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46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46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7" name="Google Shape;667;p46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46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46"/>
          <p:cNvSpPr txBox="1"/>
          <p:nvPr/>
        </p:nvSpPr>
        <p:spPr>
          <a:xfrm>
            <a:off x="10406490" y="1506022"/>
            <a:ext cx="130679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675" name="Google Shape;675;p47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6" name="Google Shape;676;p47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p47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p47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47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p47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p47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47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47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47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p47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" name="Google Shape;686;p47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87" name="Google Shape;687;p47"/>
          <p:cNvCxnSpPr>
            <a:stCxn id="676" idx="2"/>
            <a:endCxn id="675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88" name="Google Shape;688;p47"/>
          <p:cNvCxnSpPr>
            <a:stCxn id="675" idx="4"/>
            <a:endCxn id="678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89" name="Google Shape;689;p47"/>
          <p:cNvCxnSpPr>
            <a:stCxn id="679" idx="0"/>
            <a:endCxn id="675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0" name="Google Shape;690;p47"/>
          <p:cNvCxnSpPr>
            <a:stCxn id="682" idx="0"/>
            <a:endCxn id="678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1" name="Google Shape;691;p47"/>
          <p:cNvCxnSpPr>
            <a:stCxn id="681" idx="0"/>
            <a:endCxn id="678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2" name="Google Shape;692;p47"/>
          <p:cNvCxnSpPr>
            <a:stCxn id="683" idx="0"/>
            <a:endCxn id="679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3" name="Google Shape;693;p47"/>
          <p:cNvCxnSpPr>
            <a:stCxn id="684" idx="0"/>
            <a:endCxn id="679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4" name="Google Shape;694;p47"/>
          <p:cNvCxnSpPr>
            <a:stCxn id="685" idx="0"/>
            <a:endCxn id="679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5" name="Google Shape;695;p47"/>
          <p:cNvCxnSpPr>
            <a:stCxn id="677" idx="0"/>
            <a:endCxn id="676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6" name="Google Shape;696;p47"/>
          <p:cNvCxnSpPr>
            <a:stCxn id="680" idx="0"/>
            <a:endCxn id="677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7" name="Google Shape;697;p47"/>
          <p:cNvCxnSpPr>
            <a:stCxn id="686" idx="0"/>
            <a:endCxn id="680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98" name="Google Shape;698;p47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47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0" name="Google Shape;700;p47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p47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p47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3" name="Google Shape;703;p47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47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47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p47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47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47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p47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1" name="Google Shape;711;p47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47"/>
          <p:cNvSpPr txBox="1"/>
          <p:nvPr/>
        </p:nvSpPr>
        <p:spPr>
          <a:xfrm>
            <a:off x="10406490" y="1506022"/>
            <a:ext cx="16089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Player picks the largest score</a:t>
            </a:r>
            <a:endParaRPr sz="4800"/>
          </a:p>
        </p:txBody>
      </p:sp>
      <p:sp>
        <p:nvSpPr>
          <p:cNvPr id="718" name="Google Shape;718;p48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9" name="Google Shape;719;p48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1" name="Google Shape;721;p48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p48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4" name="Google Shape;724;p48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p48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7" name="Google Shape;727;p48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8" name="Google Shape;728;p48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30" name="Google Shape;730;p48"/>
          <p:cNvCxnSpPr>
            <a:stCxn id="719" idx="2"/>
            <a:endCxn id="718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1" name="Google Shape;731;p48"/>
          <p:cNvCxnSpPr>
            <a:stCxn id="718" idx="4"/>
            <a:endCxn id="721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2" name="Google Shape;732;p48"/>
          <p:cNvCxnSpPr>
            <a:stCxn id="722" idx="0"/>
            <a:endCxn id="718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3" name="Google Shape;733;p48"/>
          <p:cNvCxnSpPr>
            <a:stCxn id="725" idx="0"/>
            <a:endCxn id="721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4" name="Google Shape;734;p48"/>
          <p:cNvCxnSpPr>
            <a:stCxn id="724" idx="0"/>
            <a:endCxn id="721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5" name="Google Shape;735;p48"/>
          <p:cNvCxnSpPr>
            <a:stCxn id="726" idx="0"/>
            <a:endCxn id="722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6" name="Google Shape;736;p48"/>
          <p:cNvCxnSpPr>
            <a:stCxn id="727" idx="0"/>
            <a:endCxn id="722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7" name="Google Shape;737;p48"/>
          <p:cNvCxnSpPr>
            <a:stCxn id="728" idx="0"/>
            <a:endCxn id="722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8" name="Google Shape;738;p48"/>
          <p:cNvCxnSpPr>
            <a:stCxn id="720" idx="0"/>
            <a:endCxn id="719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9" name="Google Shape;739;p48"/>
          <p:cNvCxnSpPr>
            <a:stCxn id="723" idx="0"/>
            <a:endCxn id="720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0" name="Google Shape;740;p48"/>
          <p:cNvCxnSpPr>
            <a:stCxn id="729" idx="0"/>
            <a:endCxn id="723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41" name="Google Shape;741;p48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2" name="Google Shape;742;p48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3" name="Google Shape;743;p48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4" name="Google Shape;744;p48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5" name="Google Shape;745;p48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6" name="Google Shape;746;p48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7" name="Google Shape;747;p48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8" name="Google Shape;748;p48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9" name="Google Shape;749;p48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0" name="Google Shape;750;p48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1" name="Google Shape;751;p48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2" name="Google Shape;752;p48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3" name="Google Shape;753;p48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4" name="Google Shape;754;p48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48"/>
          <p:cNvSpPr txBox="1"/>
          <p:nvPr/>
        </p:nvSpPr>
        <p:spPr>
          <a:xfrm>
            <a:off x="10406490" y="1506022"/>
            <a:ext cx="13648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Opponent picks the smallest score</a:t>
            </a:r>
            <a:endParaRPr sz="4800"/>
          </a:p>
        </p:txBody>
      </p:sp>
      <p:sp>
        <p:nvSpPr>
          <p:cNvPr id="761" name="Google Shape;761;p49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49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5" name="Google Shape;765;p49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6" name="Google Shape;766;p49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9" name="Google Shape;769;p49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0" name="Google Shape;770;p49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73" name="Google Shape;773;p49"/>
          <p:cNvCxnSpPr>
            <a:stCxn id="762" idx="2"/>
            <a:endCxn id="761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4" name="Google Shape;774;p49"/>
          <p:cNvCxnSpPr>
            <a:stCxn id="761" idx="4"/>
            <a:endCxn id="764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5" name="Google Shape;775;p49"/>
          <p:cNvCxnSpPr>
            <a:stCxn id="765" idx="0"/>
            <a:endCxn id="761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6" name="Google Shape;776;p49"/>
          <p:cNvCxnSpPr>
            <a:stCxn id="768" idx="0"/>
            <a:endCxn id="764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7" name="Google Shape;777;p49"/>
          <p:cNvCxnSpPr>
            <a:stCxn id="767" idx="0"/>
            <a:endCxn id="764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8" name="Google Shape;778;p49"/>
          <p:cNvCxnSpPr>
            <a:stCxn id="769" idx="0"/>
            <a:endCxn id="765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79" name="Google Shape;779;p49"/>
          <p:cNvCxnSpPr>
            <a:stCxn id="770" idx="0"/>
            <a:endCxn id="765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80" name="Google Shape;780;p49"/>
          <p:cNvCxnSpPr>
            <a:stCxn id="771" idx="0"/>
            <a:endCxn id="765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81" name="Google Shape;781;p49"/>
          <p:cNvCxnSpPr>
            <a:stCxn id="763" idx="0"/>
            <a:endCxn id="762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82" name="Google Shape;782;p49"/>
          <p:cNvCxnSpPr>
            <a:stCxn id="766" idx="0"/>
            <a:endCxn id="763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83" name="Google Shape;783;p49"/>
          <p:cNvCxnSpPr>
            <a:stCxn id="772" idx="0"/>
            <a:endCxn id="766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4" name="Google Shape;784;p49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0" name="Google Shape;790;p49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1" name="Google Shape;791;p49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2" name="Google Shape;792;p49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3" name="Google Shape;793;p49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49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5" name="Google Shape;795;p49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7" name="Google Shape;797;p49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49"/>
          <p:cNvSpPr txBox="1"/>
          <p:nvPr/>
        </p:nvSpPr>
        <p:spPr>
          <a:xfrm>
            <a:off x="10406490" y="1506022"/>
            <a:ext cx="130679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Move A has the largest score</a:t>
            </a:r>
            <a:endParaRPr sz="4800"/>
          </a:p>
        </p:txBody>
      </p:sp>
      <p:sp>
        <p:nvSpPr>
          <p:cNvPr id="804" name="Google Shape;804;p50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9" name="Google Shape;809;p50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0" name="Google Shape;810;p50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1" name="Google Shape;811;p50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2" name="Google Shape;812;p50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3" name="Google Shape;813;p50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4" name="Google Shape;814;p50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5" name="Google Shape;815;p50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16" name="Google Shape;816;p50"/>
          <p:cNvCxnSpPr>
            <a:stCxn id="805" idx="2"/>
            <a:endCxn id="804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17" name="Google Shape;817;p50"/>
          <p:cNvCxnSpPr>
            <a:stCxn id="804" idx="4"/>
            <a:endCxn id="807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18" name="Google Shape;818;p50"/>
          <p:cNvCxnSpPr>
            <a:stCxn id="808" idx="0"/>
            <a:endCxn id="804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19" name="Google Shape;819;p50"/>
          <p:cNvCxnSpPr>
            <a:stCxn id="811" idx="0"/>
            <a:endCxn id="807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0" name="Google Shape;820;p50"/>
          <p:cNvCxnSpPr>
            <a:stCxn id="810" idx="0"/>
            <a:endCxn id="807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1" name="Google Shape;821;p50"/>
          <p:cNvCxnSpPr>
            <a:stCxn id="812" idx="0"/>
            <a:endCxn id="808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2" name="Google Shape;822;p50"/>
          <p:cNvCxnSpPr>
            <a:stCxn id="813" idx="0"/>
            <a:endCxn id="808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3" name="Google Shape;823;p50"/>
          <p:cNvCxnSpPr>
            <a:stCxn id="814" idx="0"/>
            <a:endCxn id="808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4" name="Google Shape;824;p50"/>
          <p:cNvCxnSpPr>
            <a:stCxn id="806" idx="0"/>
            <a:endCxn id="805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5" name="Google Shape;825;p50"/>
          <p:cNvCxnSpPr>
            <a:stCxn id="809" idx="0"/>
            <a:endCxn id="806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26" name="Google Shape;826;p50"/>
          <p:cNvCxnSpPr>
            <a:stCxn id="815" idx="0"/>
            <a:endCxn id="809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7" name="Google Shape;827;p50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8" name="Google Shape;828;p50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9" name="Google Shape;829;p50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0" name="Google Shape;830;p50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1" name="Google Shape;831;p50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2" name="Google Shape;832;p50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3" name="Google Shape;833;p50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4" name="Google Shape;834;p50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5" name="Google Shape;835;p50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6" name="Google Shape;836;p50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7" name="Google Shape;837;p50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8" name="Google Shape;838;p50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9" name="Google Shape;839;p50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0" name="Google Shape;840;p50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1" name="Google Shape;841;p50"/>
          <p:cNvSpPr txBox="1"/>
          <p:nvPr/>
        </p:nvSpPr>
        <p:spPr>
          <a:xfrm>
            <a:off x="10406490" y="1506022"/>
            <a:ext cx="130679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Open Sans Light"/>
              <a:buNone/>
            </a:pPr>
            <a:r>
              <a:rPr lang="en-US" sz="4400"/>
              <a:t>Player picks move A to be the next move</a:t>
            </a:r>
            <a:endParaRPr sz="4400"/>
          </a:p>
        </p:txBody>
      </p:sp>
      <p:sp>
        <p:nvSpPr>
          <p:cNvPr id="847" name="Google Shape;847;p51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8" name="Google Shape;848;p51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9" name="Google Shape;849;p51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0" name="Google Shape;850;p51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1" name="Google Shape;851;p51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2" name="Google Shape;852;p51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3" name="Google Shape;853;p51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4" name="Google Shape;854;p51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5" name="Google Shape;855;p51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6" name="Google Shape;856;p51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7" name="Google Shape;857;p51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8" name="Google Shape;858;p51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59" name="Google Shape;859;p51"/>
          <p:cNvCxnSpPr>
            <a:stCxn id="848" idx="2"/>
            <a:endCxn id="847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0" name="Google Shape;860;p51"/>
          <p:cNvCxnSpPr>
            <a:stCxn id="847" idx="4"/>
            <a:endCxn id="850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1" name="Google Shape;861;p51"/>
          <p:cNvCxnSpPr>
            <a:stCxn id="851" idx="0"/>
            <a:endCxn id="847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2" name="Google Shape;862;p51"/>
          <p:cNvCxnSpPr>
            <a:stCxn id="854" idx="0"/>
            <a:endCxn id="850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3" name="Google Shape;863;p51"/>
          <p:cNvCxnSpPr>
            <a:stCxn id="853" idx="0"/>
            <a:endCxn id="850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4" name="Google Shape;864;p51"/>
          <p:cNvCxnSpPr>
            <a:stCxn id="855" idx="0"/>
            <a:endCxn id="851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5" name="Google Shape;865;p51"/>
          <p:cNvCxnSpPr>
            <a:stCxn id="856" idx="0"/>
            <a:endCxn id="851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6" name="Google Shape;866;p51"/>
          <p:cNvCxnSpPr>
            <a:stCxn id="857" idx="0"/>
            <a:endCxn id="851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7" name="Google Shape;867;p51"/>
          <p:cNvCxnSpPr>
            <a:stCxn id="849" idx="0"/>
            <a:endCxn id="848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8" name="Google Shape;868;p51"/>
          <p:cNvCxnSpPr>
            <a:stCxn id="852" idx="0"/>
            <a:endCxn id="849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9" name="Google Shape;869;p51"/>
          <p:cNvCxnSpPr>
            <a:stCxn id="858" idx="0"/>
            <a:endCxn id="852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70" name="Google Shape;870;p51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1" name="Google Shape;871;p51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2" name="Google Shape;872;p51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3" name="Google Shape;873;p51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4" name="Google Shape;874;p51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5" name="Google Shape;875;p51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6" name="Google Shape;876;p51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7" name="Google Shape;877;p51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8" name="Google Shape;878;p51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9" name="Google Shape;879;p51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0" name="Google Shape;880;p51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1" name="Google Shape;881;p51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2" name="Google Shape;882;p51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3" name="Google Shape;883;p51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4" name="Google Shape;884;p51"/>
          <p:cNvSpPr txBox="1"/>
          <p:nvPr/>
        </p:nvSpPr>
        <p:spPr>
          <a:xfrm>
            <a:off x="10406490" y="1506022"/>
            <a:ext cx="130679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90" name="Google Shape;890;p52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0C0C0C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</a:t>
            </a:r>
            <a:endParaRPr/>
          </a:p>
        </p:txBody>
      </p:sp>
      <p:sp>
        <p:nvSpPr>
          <p:cNvPr id="896" name="Google Shape;896;p53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By Minimax, we can simulate our opponent’s moves and pick a move with minimum risk and maximum value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Looking forward to more steps that may improve the policy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However, the size of the search tree may drastically increase with the increase in search depth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</a:t>
            </a:r>
            <a:endParaRPr/>
          </a:p>
        </p:txBody>
      </p:sp>
      <p:sp>
        <p:nvSpPr>
          <p:cNvPr id="902" name="Google Shape;902;p54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Since we only have limited time, if we hope to increase search depth, we must optimize the search process</a:t>
            </a:r>
            <a:endParaRPr dirty="0"/>
          </a:p>
          <a:p>
            <a:pPr marL="228600" lvl="0" indent="-165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endParaRPr sz="10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There are many branches in the minimax process that are not related to the result</a:t>
            </a:r>
            <a:endParaRPr dirty="0"/>
          </a:p>
          <a:p>
            <a:pPr marL="228600" lvl="0" indent="-165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endParaRPr sz="10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We can try to “prune” these branches to improve efficiency</a:t>
            </a:r>
            <a:endParaRPr dirty="0"/>
          </a:p>
          <a:p>
            <a:pPr marL="228600" lvl="0" indent="-1651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</a:pPr>
            <a:endParaRPr sz="10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The Alpha-Beta Pruning is the improved version of the Minimax method, which eliminates some unnecessary branches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 Pseudocode</a:t>
            </a:r>
            <a:endParaRPr/>
          </a:p>
        </p:txBody>
      </p:sp>
      <p:pic>
        <p:nvPicPr>
          <p:cNvPr id="908" name="Google Shape;908;p5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30550" y="1690688"/>
            <a:ext cx="713090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55"/>
          <p:cNvSpPr txBox="1"/>
          <p:nvPr/>
        </p:nvSpPr>
        <p:spPr>
          <a:xfrm>
            <a:off x="2686789" y="6117964"/>
            <a:ext cx="68184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Source: https://en.wikipedia.org/wiki/Alpha%E2%80%93beta_pruning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</a:t>
            </a:r>
            <a:endParaRPr/>
          </a:p>
        </p:txBody>
      </p:sp>
      <p:sp>
        <p:nvSpPr>
          <p:cNvPr id="915" name="Google Shape;915;p5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Alpha: the maximum score that the player is assured of in the current search process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Beta: the minimum score that the opponent is assured of in the current search process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</a:t>
            </a:r>
            <a:endParaRPr/>
          </a:p>
        </p:txBody>
      </p:sp>
      <p:sp>
        <p:nvSpPr>
          <p:cNvPr id="921" name="Google Shape;921;p57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</a:rPr>
              <a:t>If alpha &gt;= beta on a player node, we can stop searching on this branch</a:t>
            </a:r>
            <a:endParaRPr dirty="0"/>
          </a:p>
          <a:p>
            <a:pPr marL="228600" lvl="0" indent="-152273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3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In this situation, the </a:t>
            </a:r>
            <a:r>
              <a:rPr lang="en-US" dirty="0">
                <a:solidFill>
                  <a:srgbClr val="FF0000"/>
                </a:solidFill>
              </a:rPr>
              <a:t>player will return a value &gt;= beta</a:t>
            </a:r>
            <a:r>
              <a:rPr lang="en-US" dirty="0"/>
              <a:t> on this branch</a:t>
            </a:r>
            <a:endParaRPr dirty="0"/>
          </a:p>
          <a:p>
            <a:pPr marL="228600" lvl="0" indent="-15811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2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However, the </a:t>
            </a:r>
            <a:r>
              <a:rPr lang="en-US" dirty="0">
                <a:solidFill>
                  <a:srgbClr val="FF0000"/>
                </a:solidFill>
              </a:rPr>
              <a:t>opponent already has a better choice</a:t>
            </a:r>
            <a:r>
              <a:rPr lang="en-US" dirty="0"/>
              <a:t> (beta)</a:t>
            </a:r>
            <a:endParaRPr dirty="0"/>
          </a:p>
          <a:p>
            <a:pPr marL="228600" lvl="0" indent="-15811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2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Thus, no matter the later discovered value on this branch, </a:t>
            </a:r>
            <a:r>
              <a:rPr lang="en-US" dirty="0">
                <a:solidFill>
                  <a:srgbClr val="FF0000"/>
                </a:solidFill>
              </a:rPr>
              <a:t>the opponent will not pick this branch</a:t>
            </a:r>
            <a:endParaRPr dirty="0"/>
          </a:p>
          <a:p>
            <a:pPr marL="228600" lvl="0" indent="-16402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100"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/>
              <a:t>We can “prune” this branch since it will not affect the result</a:t>
            </a:r>
            <a:endParaRPr dirty="0"/>
          </a:p>
          <a:p>
            <a:pPr marL="228600" lvl="0" indent="-16402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sz="11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</a:rPr>
              <a:t>We can also stop searching if beta &lt;= alpha on an opponent node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8"/>
          <p:cNvSpPr txBox="1">
            <a:spLocks noGrp="1"/>
          </p:cNvSpPr>
          <p:nvPr>
            <p:ph type="title"/>
          </p:nvPr>
        </p:nvSpPr>
        <p:spPr>
          <a:xfrm>
            <a:off x="420624" y="371564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Example</a:t>
            </a:r>
            <a:endParaRPr sz="4800"/>
          </a:p>
        </p:txBody>
      </p:sp>
      <p:sp>
        <p:nvSpPr>
          <p:cNvPr id="927" name="Google Shape;927;p58"/>
          <p:cNvSpPr/>
          <p:nvPr/>
        </p:nvSpPr>
        <p:spPr>
          <a:xfrm>
            <a:off x="4235669" y="2410680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5764924" y="1366051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9" name="Google Shape;929;p58"/>
          <p:cNvSpPr/>
          <p:nvPr/>
        </p:nvSpPr>
        <p:spPr>
          <a:xfrm>
            <a:off x="7288926" y="2410680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0" name="Google Shape;930;p58"/>
          <p:cNvSpPr/>
          <p:nvPr/>
        </p:nvSpPr>
        <p:spPr>
          <a:xfrm>
            <a:off x="2953406" y="3593094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5255173" y="3593094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8424041" y="3593094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2953406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1676400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4435365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5255173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6074981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8424041" y="4927908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39" name="Google Shape;939;p58"/>
          <p:cNvCxnSpPr>
            <a:stCxn id="928" idx="2"/>
            <a:endCxn id="927" idx="0"/>
          </p:cNvCxnSpPr>
          <p:nvPr/>
        </p:nvCxnSpPr>
        <p:spPr>
          <a:xfrm flipH="1">
            <a:off x="4566600" y="2028203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0" name="Google Shape;940;p58"/>
          <p:cNvCxnSpPr>
            <a:stCxn id="927" idx="4"/>
            <a:endCxn id="930" idx="0"/>
          </p:cNvCxnSpPr>
          <p:nvPr/>
        </p:nvCxnSpPr>
        <p:spPr>
          <a:xfrm flipH="1">
            <a:off x="3284545" y="3072832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1" name="Google Shape;941;p58"/>
          <p:cNvCxnSpPr>
            <a:stCxn id="931" idx="0"/>
            <a:endCxn id="927" idx="4"/>
          </p:cNvCxnSpPr>
          <p:nvPr/>
        </p:nvCxnSpPr>
        <p:spPr>
          <a:xfrm rot="10800000">
            <a:off x="4566849" y="3072894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2" name="Google Shape;942;p58"/>
          <p:cNvCxnSpPr>
            <a:stCxn id="934" idx="0"/>
            <a:endCxn id="930" idx="2"/>
          </p:cNvCxnSpPr>
          <p:nvPr/>
        </p:nvCxnSpPr>
        <p:spPr>
          <a:xfrm rot="10800000" flipH="1">
            <a:off x="2007476" y="4255308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3" name="Google Shape;943;p58"/>
          <p:cNvCxnSpPr>
            <a:stCxn id="933" idx="0"/>
            <a:endCxn id="930" idx="2"/>
          </p:cNvCxnSpPr>
          <p:nvPr/>
        </p:nvCxnSpPr>
        <p:spPr>
          <a:xfrm rot="10800000">
            <a:off x="3284482" y="4255308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4" name="Google Shape;944;p58"/>
          <p:cNvCxnSpPr>
            <a:stCxn id="935" idx="0"/>
            <a:endCxn id="931" idx="2"/>
          </p:cNvCxnSpPr>
          <p:nvPr/>
        </p:nvCxnSpPr>
        <p:spPr>
          <a:xfrm rot="10800000" flipH="1">
            <a:off x="4766441" y="4255308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5" name="Google Shape;945;p58"/>
          <p:cNvCxnSpPr>
            <a:stCxn id="936" idx="0"/>
            <a:endCxn id="931" idx="2"/>
          </p:cNvCxnSpPr>
          <p:nvPr/>
        </p:nvCxnSpPr>
        <p:spPr>
          <a:xfrm rot="10800000">
            <a:off x="5586249" y="4255308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6" name="Google Shape;946;p58"/>
          <p:cNvCxnSpPr>
            <a:stCxn id="937" idx="0"/>
            <a:endCxn id="931" idx="2"/>
          </p:cNvCxnSpPr>
          <p:nvPr/>
        </p:nvCxnSpPr>
        <p:spPr>
          <a:xfrm rot="10800000">
            <a:off x="5586157" y="4255308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7" name="Google Shape;947;p58"/>
          <p:cNvCxnSpPr>
            <a:stCxn id="929" idx="0"/>
            <a:endCxn id="928" idx="2"/>
          </p:cNvCxnSpPr>
          <p:nvPr/>
        </p:nvCxnSpPr>
        <p:spPr>
          <a:xfrm rot="10800000">
            <a:off x="6096002" y="2028180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8" name="Google Shape;948;p58"/>
          <p:cNvCxnSpPr>
            <a:stCxn id="932" idx="0"/>
            <a:endCxn id="929" idx="4"/>
          </p:cNvCxnSpPr>
          <p:nvPr/>
        </p:nvCxnSpPr>
        <p:spPr>
          <a:xfrm rot="10800000">
            <a:off x="7619917" y="3072894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49" name="Google Shape;949;p58"/>
          <p:cNvCxnSpPr>
            <a:stCxn id="938" idx="0"/>
            <a:endCxn id="932" idx="2"/>
          </p:cNvCxnSpPr>
          <p:nvPr/>
        </p:nvCxnSpPr>
        <p:spPr>
          <a:xfrm rot="10800000">
            <a:off x="8755117" y="4255308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50" name="Google Shape;950;p58"/>
          <p:cNvSpPr/>
          <p:nvPr/>
        </p:nvSpPr>
        <p:spPr>
          <a:xfrm>
            <a:off x="9752474" y="136605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1" name="Google Shape;951;p58"/>
          <p:cNvSpPr/>
          <p:nvPr/>
        </p:nvSpPr>
        <p:spPr>
          <a:xfrm>
            <a:off x="8038550" y="1366051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2" name="Google Shape;952;p58"/>
          <p:cNvSpPr txBox="1"/>
          <p:nvPr/>
        </p:nvSpPr>
        <p:spPr>
          <a:xfrm>
            <a:off x="8748865" y="1512461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3" name="Google Shape;953;p58"/>
          <p:cNvSpPr txBox="1"/>
          <p:nvPr/>
        </p:nvSpPr>
        <p:spPr>
          <a:xfrm>
            <a:off x="10406490" y="1512461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4" name="Google Shape;954;p58"/>
          <p:cNvSpPr txBox="1"/>
          <p:nvPr/>
        </p:nvSpPr>
        <p:spPr>
          <a:xfrm>
            <a:off x="4960596" y="1893263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5" name="Google Shape;955;p58"/>
          <p:cNvSpPr txBox="1"/>
          <p:nvPr/>
        </p:nvSpPr>
        <p:spPr>
          <a:xfrm>
            <a:off x="6994349" y="189041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6" name="Google Shape;956;p58"/>
          <p:cNvSpPr txBox="1"/>
          <p:nvPr/>
        </p:nvSpPr>
        <p:spPr>
          <a:xfrm>
            <a:off x="3649286" y="2963631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7" name="Google Shape;957;p58"/>
          <p:cNvSpPr txBox="1"/>
          <p:nvPr/>
        </p:nvSpPr>
        <p:spPr>
          <a:xfrm>
            <a:off x="5184083" y="300580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8" name="Google Shape;958;p58"/>
          <p:cNvSpPr txBox="1"/>
          <p:nvPr/>
        </p:nvSpPr>
        <p:spPr>
          <a:xfrm>
            <a:off x="8369626" y="296922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9" name="Google Shape;959;p58"/>
          <p:cNvSpPr txBox="1"/>
          <p:nvPr/>
        </p:nvSpPr>
        <p:spPr>
          <a:xfrm>
            <a:off x="2191263" y="4398373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0" name="Google Shape;960;p58"/>
          <p:cNvSpPr txBox="1"/>
          <p:nvPr/>
        </p:nvSpPr>
        <p:spPr>
          <a:xfrm>
            <a:off x="3273688" y="4398373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1" name="Google Shape;961;p58"/>
          <p:cNvSpPr txBox="1"/>
          <p:nvPr/>
        </p:nvSpPr>
        <p:spPr>
          <a:xfrm>
            <a:off x="4734480" y="4393415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2" name="Google Shape;962;p58"/>
          <p:cNvSpPr txBox="1"/>
          <p:nvPr/>
        </p:nvSpPr>
        <p:spPr>
          <a:xfrm>
            <a:off x="5360133" y="4473201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3" name="Google Shape;963;p58"/>
          <p:cNvSpPr txBox="1"/>
          <p:nvPr/>
        </p:nvSpPr>
        <p:spPr>
          <a:xfrm>
            <a:off x="6216438" y="4402161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4" name="Google Shape;964;p58"/>
          <p:cNvSpPr txBox="1"/>
          <p:nvPr/>
        </p:nvSpPr>
        <p:spPr>
          <a:xfrm>
            <a:off x="8424041" y="4402161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5" name="Google Shape;965;p58"/>
          <p:cNvSpPr txBox="1"/>
          <p:nvPr/>
        </p:nvSpPr>
        <p:spPr>
          <a:xfrm>
            <a:off x="6423935" y="1373961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6" name="Google Shape;966;p58"/>
          <p:cNvSpPr txBox="1"/>
          <p:nvPr/>
        </p:nvSpPr>
        <p:spPr>
          <a:xfrm>
            <a:off x="4881768" y="239753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7" name="Google Shape;967;p58"/>
          <p:cNvSpPr txBox="1"/>
          <p:nvPr/>
        </p:nvSpPr>
        <p:spPr>
          <a:xfrm>
            <a:off x="3614283" y="359309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973" name="Google Shape;973;p59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4" name="Google Shape;974;p59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5" name="Google Shape;975;p59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6" name="Google Shape;976;p59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7" name="Google Shape;977;p59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8" name="Google Shape;978;p59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9" name="Google Shape;979;p59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0" name="Google Shape;980;p59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1" name="Google Shape;981;p59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2" name="Google Shape;982;p59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3" name="Google Shape;983;p59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4" name="Google Shape;984;p59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85" name="Google Shape;985;p59"/>
          <p:cNvCxnSpPr>
            <a:stCxn id="974" idx="2"/>
            <a:endCxn id="973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86" name="Google Shape;986;p59"/>
          <p:cNvCxnSpPr>
            <a:stCxn id="973" idx="4"/>
            <a:endCxn id="976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87" name="Google Shape;987;p59"/>
          <p:cNvCxnSpPr>
            <a:stCxn id="977" idx="0"/>
            <a:endCxn id="973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88" name="Google Shape;988;p59"/>
          <p:cNvCxnSpPr>
            <a:stCxn id="980" idx="0"/>
            <a:endCxn id="976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89" name="Google Shape;989;p59"/>
          <p:cNvCxnSpPr>
            <a:stCxn id="979" idx="0"/>
            <a:endCxn id="976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0" name="Google Shape;990;p59"/>
          <p:cNvCxnSpPr>
            <a:stCxn id="981" idx="0"/>
            <a:endCxn id="977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1" name="Google Shape;991;p59"/>
          <p:cNvCxnSpPr>
            <a:stCxn id="982" idx="0"/>
            <a:endCxn id="977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2" name="Google Shape;992;p59"/>
          <p:cNvCxnSpPr>
            <a:stCxn id="983" idx="0"/>
            <a:endCxn id="977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3" name="Google Shape;993;p59"/>
          <p:cNvCxnSpPr>
            <a:stCxn id="975" idx="0"/>
            <a:endCxn id="974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4" name="Google Shape;994;p59"/>
          <p:cNvCxnSpPr>
            <a:stCxn id="978" idx="0"/>
            <a:endCxn id="975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95" name="Google Shape;995;p59"/>
          <p:cNvCxnSpPr>
            <a:stCxn id="984" idx="0"/>
            <a:endCxn id="978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6" name="Google Shape;996;p59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7" name="Google Shape;997;p59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8" name="Google Shape;998;p59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9" name="Google Shape;999;p59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0" name="Google Shape;1000;p59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1" name="Google Shape;1001;p59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2" name="Google Shape;1002;p59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3" name="Google Shape;1003;p59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4" name="Google Shape;1004;p59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5" name="Google Shape;1005;p59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6" name="Google Shape;1006;p59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7" name="Google Shape;1007;p59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8" name="Google Shape;1008;p59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9" name="Google Shape;1009;p59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0" name="Google Shape;1010;p59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1" name="Google Shape;1011;p59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2" name="Google Shape;1012;p59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3" name="Google Shape;1013;p59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Update alpha</a:t>
            </a:r>
            <a:endParaRPr sz="4800"/>
          </a:p>
        </p:txBody>
      </p:sp>
      <p:sp>
        <p:nvSpPr>
          <p:cNvPr id="1019" name="Google Shape;1019;p60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0" name="Google Shape;1020;p60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1" name="Google Shape;1021;p60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2" name="Google Shape;1022;p60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3" name="Google Shape;1023;p60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4" name="Google Shape;1024;p60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5" name="Google Shape;1025;p60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6" name="Google Shape;1026;p60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7" name="Google Shape;1027;p60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8" name="Google Shape;1028;p60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9" name="Google Shape;1029;p60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31" name="Google Shape;1031;p60"/>
          <p:cNvCxnSpPr>
            <a:stCxn id="1020" idx="2"/>
            <a:endCxn id="1019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2" name="Google Shape;1032;p60"/>
          <p:cNvCxnSpPr>
            <a:stCxn id="1019" idx="4"/>
            <a:endCxn id="1022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3" name="Google Shape;1033;p60"/>
          <p:cNvCxnSpPr>
            <a:stCxn id="1023" idx="0"/>
            <a:endCxn id="1019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4" name="Google Shape;1034;p60"/>
          <p:cNvCxnSpPr>
            <a:stCxn id="1026" idx="0"/>
            <a:endCxn id="1022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5" name="Google Shape;1035;p60"/>
          <p:cNvCxnSpPr>
            <a:stCxn id="1025" idx="0"/>
            <a:endCxn id="1022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6" name="Google Shape;1036;p60"/>
          <p:cNvCxnSpPr>
            <a:stCxn id="1027" idx="0"/>
            <a:endCxn id="1023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7" name="Google Shape;1037;p60"/>
          <p:cNvCxnSpPr>
            <a:stCxn id="1028" idx="0"/>
            <a:endCxn id="1023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8" name="Google Shape;1038;p60"/>
          <p:cNvCxnSpPr>
            <a:stCxn id="1029" idx="0"/>
            <a:endCxn id="1023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39" name="Google Shape;1039;p60"/>
          <p:cNvCxnSpPr>
            <a:stCxn id="1021" idx="0"/>
            <a:endCxn id="1020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40" name="Google Shape;1040;p60"/>
          <p:cNvCxnSpPr>
            <a:stCxn id="1024" idx="0"/>
            <a:endCxn id="1021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41" name="Google Shape;1041;p60"/>
          <p:cNvCxnSpPr>
            <a:stCxn id="1030" idx="0"/>
            <a:endCxn id="1024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42" name="Google Shape;1042;p60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3" name="Google Shape;1043;p60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4" name="Google Shape;1044;p60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5" name="Google Shape;1045;p60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6" name="Google Shape;1046;p60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7" name="Google Shape;1047;p60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" name="Google Shape;1048;p60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9" name="Google Shape;1049;p60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0" name="Google Shape;1050;p60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1" name="Google Shape;1051;p60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2" name="Google Shape;1052;p60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4" name="Google Shape;1054;p60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5" name="Google Shape;1055;p60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6" name="Google Shape;1056;p60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7" name="Google Shape;1057;p60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8" name="Google Shape;1058;p60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9" name="Google Shape;1059;p60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</a:t>
            </a: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1065" name="Google Shape;1065;p61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6" name="Google Shape;1066;p61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7" name="Google Shape;1067;p61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8" name="Google Shape;1068;p61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9" name="Google Shape;1069;p61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0" name="Google Shape;1070;p61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1" name="Google Shape;1071;p61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2" name="Google Shape;1072;p61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3" name="Google Shape;1073;p61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4" name="Google Shape;1074;p61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5" name="Google Shape;1075;p61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6" name="Google Shape;1076;p61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7" name="Google Shape;1077;p61"/>
          <p:cNvCxnSpPr>
            <a:stCxn id="1066" idx="2"/>
            <a:endCxn id="1065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78" name="Google Shape;1078;p61"/>
          <p:cNvCxnSpPr>
            <a:stCxn id="1065" idx="4"/>
            <a:endCxn id="1068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79" name="Google Shape;1079;p61"/>
          <p:cNvCxnSpPr>
            <a:stCxn id="1069" idx="0"/>
            <a:endCxn id="1065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0" name="Google Shape;1080;p61"/>
          <p:cNvCxnSpPr>
            <a:stCxn id="1072" idx="0"/>
            <a:endCxn id="1068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1" name="Google Shape;1081;p61"/>
          <p:cNvCxnSpPr>
            <a:stCxn id="1071" idx="0"/>
            <a:endCxn id="1068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2" name="Google Shape;1082;p61"/>
          <p:cNvCxnSpPr>
            <a:stCxn id="1073" idx="0"/>
            <a:endCxn id="1069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3" name="Google Shape;1083;p61"/>
          <p:cNvCxnSpPr>
            <a:stCxn id="1074" idx="0"/>
            <a:endCxn id="1069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4" name="Google Shape;1084;p61"/>
          <p:cNvCxnSpPr>
            <a:stCxn id="1075" idx="0"/>
            <a:endCxn id="1069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5" name="Google Shape;1085;p61"/>
          <p:cNvCxnSpPr>
            <a:stCxn id="1067" idx="0"/>
            <a:endCxn id="1066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6" name="Google Shape;1086;p61"/>
          <p:cNvCxnSpPr>
            <a:stCxn id="1070" idx="0"/>
            <a:endCxn id="1067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7" name="Google Shape;1087;p61"/>
          <p:cNvCxnSpPr>
            <a:stCxn id="1076" idx="0"/>
            <a:endCxn id="1070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8" name="Google Shape;1088;p61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9" name="Google Shape;1089;p61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0" name="Google Shape;1090;p61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1" name="Google Shape;1091;p61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2" name="Google Shape;1092;p61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3" name="Google Shape;1093;p61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4" name="Google Shape;1094;p61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5" name="Google Shape;1095;p61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6" name="Google Shape;1096;p61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7" name="Google Shape;1097;p61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8" name="Google Shape;1098;p61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9" name="Google Shape;1099;p61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0" name="Google Shape;1100;p61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1" name="Google Shape;1101;p61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2" name="Google Shape;1102;p61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3" name="Google Shape;1103;p61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4" name="Google Shape;1104;p61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5" name="Google Shape;1105;p61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5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Update alpha</a:t>
            </a:r>
            <a:endParaRPr sz="4800"/>
          </a:p>
        </p:txBody>
      </p:sp>
      <p:sp>
        <p:nvSpPr>
          <p:cNvPr id="1111" name="Google Shape;1111;p62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2" name="Google Shape;1112;p62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3" name="Google Shape;1113;p62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4" name="Google Shape;1114;p62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5" name="Google Shape;1115;p62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6" name="Google Shape;1116;p62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7" name="Google Shape;1117;p62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8" name="Google Shape;1118;p62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9" name="Google Shape;1119;p62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0" name="Google Shape;1120;p62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1" name="Google Shape;1121;p62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2" name="Google Shape;1122;p62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23" name="Google Shape;1123;p62"/>
          <p:cNvCxnSpPr>
            <a:stCxn id="1112" idx="2"/>
            <a:endCxn id="1111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4" name="Google Shape;1124;p62"/>
          <p:cNvCxnSpPr>
            <a:stCxn id="1111" idx="4"/>
            <a:endCxn id="1114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5" name="Google Shape;1125;p62"/>
          <p:cNvCxnSpPr>
            <a:stCxn id="1115" idx="0"/>
            <a:endCxn id="1111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6" name="Google Shape;1126;p62"/>
          <p:cNvCxnSpPr>
            <a:stCxn id="1118" idx="0"/>
            <a:endCxn id="1114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7" name="Google Shape;1127;p62"/>
          <p:cNvCxnSpPr>
            <a:stCxn id="1117" idx="0"/>
            <a:endCxn id="1114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8" name="Google Shape;1128;p62"/>
          <p:cNvCxnSpPr>
            <a:stCxn id="1119" idx="0"/>
            <a:endCxn id="1115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9" name="Google Shape;1129;p62"/>
          <p:cNvCxnSpPr>
            <a:stCxn id="1120" idx="0"/>
            <a:endCxn id="1115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0" name="Google Shape;1130;p62"/>
          <p:cNvCxnSpPr>
            <a:stCxn id="1121" idx="0"/>
            <a:endCxn id="1115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1" name="Google Shape;1131;p62"/>
          <p:cNvCxnSpPr>
            <a:stCxn id="1113" idx="0"/>
            <a:endCxn id="1112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2" name="Google Shape;1132;p62"/>
          <p:cNvCxnSpPr>
            <a:stCxn id="1116" idx="0"/>
            <a:endCxn id="1113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3" name="Google Shape;1133;p62"/>
          <p:cNvCxnSpPr>
            <a:stCxn id="1122" idx="0"/>
            <a:endCxn id="1116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4" name="Google Shape;1134;p62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5" name="Google Shape;1135;p62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6" name="Google Shape;1136;p62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7" name="Google Shape;1137;p62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8" name="Google Shape;1138;p62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9" name="Google Shape;1139;p62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0" name="Google Shape;1140;p62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1" name="Google Shape;1141;p62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2" name="Google Shape;1142;p62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3" name="Google Shape;1143;p62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4" name="Google Shape;1144;p62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5" name="Google Shape;1145;p62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6" name="Google Shape;1146;p62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7" name="Google Shape;1147;p62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8" name="Google Shape;1148;p62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9" name="Google Shape;1149;p62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0" name="Google Shape;1150;p62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1" name="Google Shape;1151;p62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</a:t>
            </a: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Player picks the largest score</a:t>
            </a:r>
            <a:endParaRPr sz="4800"/>
          </a:p>
        </p:txBody>
      </p:sp>
      <p:sp>
        <p:nvSpPr>
          <p:cNvPr id="1157" name="Google Shape;1157;p63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8" name="Google Shape;1158;p63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9" name="Google Shape;1159;p63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0" name="Google Shape;1160;p63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1" name="Google Shape;1161;p63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2" name="Google Shape;1162;p63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3" name="Google Shape;1163;p63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4" name="Google Shape;1164;p63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5" name="Google Shape;1165;p63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6" name="Google Shape;1166;p63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7" name="Google Shape;1167;p63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8" name="Google Shape;1168;p63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69" name="Google Shape;1169;p63"/>
          <p:cNvCxnSpPr>
            <a:stCxn id="1158" idx="2"/>
            <a:endCxn id="1157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0" name="Google Shape;1170;p63"/>
          <p:cNvCxnSpPr>
            <a:stCxn id="1157" idx="4"/>
            <a:endCxn id="1160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1" name="Google Shape;1171;p63"/>
          <p:cNvCxnSpPr>
            <a:stCxn id="1161" idx="0"/>
            <a:endCxn id="1157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2" name="Google Shape;1172;p63"/>
          <p:cNvCxnSpPr>
            <a:stCxn id="1164" idx="0"/>
            <a:endCxn id="1160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3" name="Google Shape;1173;p63"/>
          <p:cNvCxnSpPr>
            <a:stCxn id="1163" idx="0"/>
            <a:endCxn id="1160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4" name="Google Shape;1174;p63"/>
          <p:cNvCxnSpPr>
            <a:stCxn id="1165" idx="0"/>
            <a:endCxn id="1161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5" name="Google Shape;1175;p63"/>
          <p:cNvCxnSpPr>
            <a:stCxn id="1166" idx="0"/>
            <a:endCxn id="1161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6" name="Google Shape;1176;p63"/>
          <p:cNvCxnSpPr>
            <a:stCxn id="1167" idx="0"/>
            <a:endCxn id="1161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7" name="Google Shape;1177;p63"/>
          <p:cNvCxnSpPr>
            <a:stCxn id="1159" idx="0"/>
            <a:endCxn id="1158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8" name="Google Shape;1178;p63"/>
          <p:cNvCxnSpPr>
            <a:stCxn id="1162" idx="0"/>
            <a:endCxn id="1159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79" name="Google Shape;1179;p63"/>
          <p:cNvCxnSpPr>
            <a:stCxn id="1168" idx="0"/>
            <a:endCxn id="1162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80" name="Google Shape;1180;p63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1" name="Google Shape;1181;p63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2" name="Google Shape;1182;p63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3" name="Google Shape;1183;p63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4" name="Google Shape;1184;p63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5" name="Google Shape;1185;p63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6" name="Google Shape;1186;p63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7" name="Google Shape;1187;p63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8" name="Google Shape;1188;p63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9" name="Google Shape;1189;p63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0" name="Google Shape;1190;p63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1" name="Google Shape;1191;p63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2" name="Google Shape;1192;p63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3" name="Google Shape;1193;p63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4" name="Google Shape;1194;p63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5" name="Google Shape;1195;p63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6" name="Google Shape;1196;p63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7" name="Google Shape;1197;p63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6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Update beta</a:t>
            </a:r>
            <a:endParaRPr sz="4800"/>
          </a:p>
        </p:txBody>
      </p:sp>
      <p:sp>
        <p:nvSpPr>
          <p:cNvPr id="1203" name="Google Shape;1203;p64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4" name="Google Shape;1204;p64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5" name="Google Shape;1205;p64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6" name="Google Shape;1206;p64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7" name="Google Shape;1207;p64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8" name="Google Shape;1208;p64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9" name="Google Shape;1209;p64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0" name="Google Shape;1210;p64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1" name="Google Shape;1211;p64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2" name="Google Shape;1212;p64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3" name="Google Shape;1213;p64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4" name="Google Shape;1214;p64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15" name="Google Shape;1215;p64"/>
          <p:cNvCxnSpPr>
            <a:stCxn id="1204" idx="2"/>
            <a:endCxn id="1203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6" name="Google Shape;1216;p64"/>
          <p:cNvCxnSpPr>
            <a:stCxn id="1203" idx="4"/>
            <a:endCxn id="1206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7" name="Google Shape;1217;p64"/>
          <p:cNvCxnSpPr>
            <a:stCxn id="1207" idx="0"/>
            <a:endCxn id="1203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8" name="Google Shape;1218;p64"/>
          <p:cNvCxnSpPr>
            <a:stCxn id="1210" idx="0"/>
            <a:endCxn id="1206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9" name="Google Shape;1219;p64"/>
          <p:cNvCxnSpPr>
            <a:stCxn id="1209" idx="0"/>
            <a:endCxn id="1206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0" name="Google Shape;1220;p64"/>
          <p:cNvCxnSpPr>
            <a:stCxn id="1211" idx="0"/>
            <a:endCxn id="1207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1" name="Google Shape;1221;p64"/>
          <p:cNvCxnSpPr>
            <a:stCxn id="1212" idx="0"/>
            <a:endCxn id="1207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2" name="Google Shape;1222;p64"/>
          <p:cNvCxnSpPr>
            <a:stCxn id="1213" idx="0"/>
            <a:endCxn id="1207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3" name="Google Shape;1223;p64"/>
          <p:cNvCxnSpPr>
            <a:stCxn id="1205" idx="0"/>
            <a:endCxn id="1204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4" name="Google Shape;1224;p64"/>
          <p:cNvCxnSpPr>
            <a:stCxn id="1208" idx="0"/>
            <a:endCxn id="1205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5" name="Google Shape;1225;p64"/>
          <p:cNvCxnSpPr>
            <a:stCxn id="1214" idx="0"/>
            <a:endCxn id="1208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26" name="Google Shape;1226;p64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7" name="Google Shape;1227;p64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8" name="Google Shape;1228;p64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9" name="Google Shape;1229;p64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0" name="Google Shape;1230;p64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1" name="Google Shape;1231;p64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2" name="Google Shape;1232;p64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3" name="Google Shape;1233;p64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4" name="Google Shape;1234;p64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5" name="Google Shape;1235;p64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6" name="Google Shape;1236;p64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7" name="Google Shape;1237;p64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8" name="Google Shape;1238;p64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9" name="Google Shape;1239;p64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0" name="Google Shape;1240;p64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1" name="Google Shape;1241;p64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2" name="Google Shape;1242;p64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</a:t>
            </a: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3" name="Google Shape;1243;p64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6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Propagate alpha and beta values</a:t>
            </a:r>
            <a:endParaRPr sz="4800"/>
          </a:p>
        </p:txBody>
      </p:sp>
      <p:sp>
        <p:nvSpPr>
          <p:cNvPr id="1249" name="Google Shape;1249;p65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0" name="Google Shape;1250;p65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1" name="Google Shape;1251;p65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2" name="Google Shape;1252;p65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3" name="Google Shape;1253;p65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4" name="Google Shape;1254;p65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5" name="Google Shape;1255;p65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6" name="Google Shape;1256;p65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7" name="Google Shape;1257;p65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8" name="Google Shape;1258;p65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9" name="Google Shape;1259;p65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0" name="Google Shape;1260;p65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61" name="Google Shape;1261;p65"/>
          <p:cNvCxnSpPr>
            <a:stCxn id="1250" idx="2"/>
            <a:endCxn id="1249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2" name="Google Shape;1262;p65"/>
          <p:cNvCxnSpPr>
            <a:stCxn id="1249" idx="4"/>
            <a:endCxn id="1252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3" name="Google Shape;1263;p65"/>
          <p:cNvCxnSpPr>
            <a:stCxn id="1253" idx="0"/>
            <a:endCxn id="1249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4" name="Google Shape;1264;p65"/>
          <p:cNvCxnSpPr>
            <a:stCxn id="1256" idx="0"/>
            <a:endCxn id="1252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5" name="Google Shape;1265;p65"/>
          <p:cNvCxnSpPr>
            <a:stCxn id="1255" idx="0"/>
            <a:endCxn id="1252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6" name="Google Shape;1266;p65"/>
          <p:cNvCxnSpPr>
            <a:stCxn id="1257" idx="0"/>
            <a:endCxn id="1253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7" name="Google Shape;1267;p65"/>
          <p:cNvCxnSpPr>
            <a:stCxn id="1258" idx="0"/>
            <a:endCxn id="1253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8" name="Google Shape;1268;p65"/>
          <p:cNvCxnSpPr>
            <a:stCxn id="1259" idx="0"/>
            <a:endCxn id="1253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69" name="Google Shape;1269;p65"/>
          <p:cNvCxnSpPr>
            <a:stCxn id="1251" idx="0"/>
            <a:endCxn id="1250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70" name="Google Shape;1270;p65"/>
          <p:cNvCxnSpPr>
            <a:stCxn id="1254" idx="0"/>
            <a:endCxn id="1251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71" name="Google Shape;1271;p65"/>
          <p:cNvCxnSpPr>
            <a:stCxn id="1260" idx="0"/>
            <a:endCxn id="1254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72" name="Google Shape;1272;p65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3" name="Google Shape;1273;p65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4" name="Google Shape;1274;p65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5" name="Google Shape;1275;p65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6" name="Google Shape;1276;p65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7" name="Google Shape;1277;p65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8" name="Google Shape;1278;p65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9" name="Google Shape;1279;p65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0" name="Google Shape;1280;p65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1" name="Google Shape;1281;p65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2" name="Google Shape;1282;p65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3" name="Google Shape;1283;p65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4" name="Google Shape;1284;p65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5" name="Google Shape;1285;p65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6" name="Google Shape;1286;p65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7" name="Google Shape;1287;p65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8" name="Google Shape;1288;p65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9" name="Google Shape;1289;p65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0" name="Google Shape;1290;p65"/>
          <p:cNvSpPr txBox="1"/>
          <p:nvPr/>
        </p:nvSpPr>
        <p:spPr>
          <a:xfrm>
            <a:off x="5949396" y="358665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Evaluate score at leaves</a:t>
            </a:r>
            <a:endParaRPr sz="4800"/>
          </a:p>
        </p:txBody>
      </p:sp>
      <p:sp>
        <p:nvSpPr>
          <p:cNvPr id="1296" name="Google Shape;1296;p66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7" name="Google Shape;1297;p66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8" name="Google Shape;1298;p66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9" name="Google Shape;1299;p66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0" name="Google Shape;1300;p66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1" name="Google Shape;1301;p66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2" name="Google Shape;1302;p66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3" name="Google Shape;1303;p66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4" name="Google Shape;1304;p66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5" name="Google Shape;1305;p66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6" name="Google Shape;1306;p66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7" name="Google Shape;1307;p66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08" name="Google Shape;1308;p66"/>
          <p:cNvCxnSpPr>
            <a:stCxn id="1297" idx="2"/>
            <a:endCxn id="1296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9" name="Google Shape;1309;p66"/>
          <p:cNvCxnSpPr>
            <a:stCxn id="1296" idx="4"/>
            <a:endCxn id="1299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0" name="Google Shape;1310;p66"/>
          <p:cNvCxnSpPr>
            <a:stCxn id="1300" idx="0"/>
            <a:endCxn id="1296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1" name="Google Shape;1311;p66"/>
          <p:cNvCxnSpPr>
            <a:stCxn id="1303" idx="0"/>
            <a:endCxn id="1299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2" name="Google Shape;1312;p66"/>
          <p:cNvCxnSpPr>
            <a:stCxn id="1302" idx="0"/>
            <a:endCxn id="1299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3" name="Google Shape;1313;p66"/>
          <p:cNvCxnSpPr>
            <a:stCxn id="1304" idx="0"/>
            <a:endCxn id="1300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4" name="Google Shape;1314;p66"/>
          <p:cNvCxnSpPr>
            <a:stCxn id="1305" idx="0"/>
            <a:endCxn id="1300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5" name="Google Shape;1315;p66"/>
          <p:cNvCxnSpPr>
            <a:stCxn id="1306" idx="0"/>
            <a:endCxn id="1300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6" name="Google Shape;1316;p66"/>
          <p:cNvCxnSpPr>
            <a:stCxn id="1298" idx="0"/>
            <a:endCxn id="1297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7" name="Google Shape;1317;p66"/>
          <p:cNvCxnSpPr>
            <a:stCxn id="1301" idx="0"/>
            <a:endCxn id="1298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8" name="Google Shape;1318;p66"/>
          <p:cNvCxnSpPr>
            <a:stCxn id="1307" idx="0"/>
            <a:endCxn id="1301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9" name="Google Shape;1319;p66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0" name="Google Shape;1320;p66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1" name="Google Shape;1321;p66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2" name="Google Shape;1322;p66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3" name="Google Shape;1323;p66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4" name="Google Shape;1324;p66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5" name="Google Shape;1325;p66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6" name="Google Shape;1326;p66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7" name="Google Shape;1327;p66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8" name="Google Shape;1328;p66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9" name="Google Shape;1329;p66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0" name="Google Shape;1330;p66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1" name="Google Shape;1331;p66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2" name="Google Shape;1332;p66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3" name="Google Shape;1333;p66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4" name="Google Shape;1334;p66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5" name="Google Shape;1335;p66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6" name="Google Shape;1336;p66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7" name="Google Shape;1337;p66"/>
          <p:cNvSpPr txBox="1"/>
          <p:nvPr/>
        </p:nvSpPr>
        <p:spPr>
          <a:xfrm>
            <a:off x="5949396" y="358665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Update alpha</a:t>
            </a:r>
            <a:endParaRPr sz="4800"/>
          </a:p>
        </p:txBody>
      </p:sp>
      <p:sp>
        <p:nvSpPr>
          <p:cNvPr id="1343" name="Google Shape;1343;p67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4" name="Google Shape;1344;p67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5" name="Google Shape;1345;p67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6" name="Google Shape;1346;p67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7" name="Google Shape;1347;p67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8" name="Google Shape;1348;p67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9" name="Google Shape;1349;p67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0" name="Google Shape;1350;p67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1" name="Google Shape;1351;p67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2" name="Google Shape;1352;p67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3" name="Google Shape;1353;p67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4" name="Google Shape;1354;p67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55" name="Google Shape;1355;p67"/>
          <p:cNvCxnSpPr>
            <a:stCxn id="1344" idx="2"/>
            <a:endCxn id="1343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6" name="Google Shape;1356;p67"/>
          <p:cNvCxnSpPr>
            <a:stCxn id="1343" idx="4"/>
            <a:endCxn id="1346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7" name="Google Shape;1357;p67"/>
          <p:cNvCxnSpPr>
            <a:stCxn id="1347" idx="0"/>
            <a:endCxn id="1343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8" name="Google Shape;1358;p67"/>
          <p:cNvCxnSpPr>
            <a:stCxn id="1350" idx="0"/>
            <a:endCxn id="1346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9" name="Google Shape;1359;p67"/>
          <p:cNvCxnSpPr>
            <a:stCxn id="1349" idx="0"/>
            <a:endCxn id="1346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0" name="Google Shape;1360;p67"/>
          <p:cNvCxnSpPr>
            <a:stCxn id="1351" idx="0"/>
            <a:endCxn id="1347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1" name="Google Shape;1361;p67"/>
          <p:cNvCxnSpPr>
            <a:stCxn id="1352" idx="0"/>
            <a:endCxn id="1347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2" name="Google Shape;1362;p67"/>
          <p:cNvCxnSpPr>
            <a:stCxn id="1353" idx="0"/>
            <a:endCxn id="1347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3" name="Google Shape;1363;p67"/>
          <p:cNvCxnSpPr>
            <a:stCxn id="1345" idx="0"/>
            <a:endCxn id="1344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4" name="Google Shape;1364;p67"/>
          <p:cNvCxnSpPr>
            <a:stCxn id="1348" idx="0"/>
            <a:endCxn id="1345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5" name="Google Shape;1365;p67"/>
          <p:cNvCxnSpPr>
            <a:stCxn id="1354" idx="0"/>
            <a:endCxn id="1348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66" name="Google Shape;1366;p67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7" name="Google Shape;1367;p67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8" name="Google Shape;1368;p67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9" name="Google Shape;1369;p67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0" name="Google Shape;1370;p67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1" name="Google Shape;1371;p67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2" name="Google Shape;1372;p67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3" name="Google Shape;1373;p67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4" name="Google Shape;1374;p67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5" name="Google Shape;1375;p67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6" name="Google Shape;1376;p67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7" name="Google Shape;1377;p67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8" name="Google Shape;1378;p67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9" name="Google Shape;1379;p67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0" name="Google Shape;1380;p67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1" name="Google Shape;1381;p67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2" name="Google Shape;1382;p67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3" name="Google Shape;1383;p67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4" name="Google Shape;1384;p67"/>
          <p:cNvSpPr txBox="1"/>
          <p:nvPr/>
        </p:nvSpPr>
        <p:spPr>
          <a:xfrm>
            <a:off x="5949396" y="358665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</a:t>
            </a: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6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Open Sans Light"/>
              <a:buNone/>
            </a:pPr>
            <a:r>
              <a:rPr lang="en-US" sz="4400"/>
              <a:t>Alpha &gt;= beta in a player node, stop searching</a:t>
            </a:r>
            <a:endParaRPr sz="4400"/>
          </a:p>
        </p:txBody>
      </p:sp>
      <p:sp>
        <p:nvSpPr>
          <p:cNvPr id="1390" name="Google Shape;1390;p68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1" name="Google Shape;1391;p68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2" name="Google Shape;1392;p68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3" name="Google Shape;1393;p68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4" name="Google Shape;1394;p68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5" name="Google Shape;1395;p68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6" name="Google Shape;1396;p68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7" name="Google Shape;1397;p68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8" name="Google Shape;1398;p68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9" name="Google Shape;1399;p68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0" name="Google Shape;1400;p68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1" name="Google Shape;1401;p68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02" name="Google Shape;1402;p68"/>
          <p:cNvCxnSpPr>
            <a:stCxn id="1391" idx="2"/>
            <a:endCxn id="1390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3" name="Google Shape;1403;p68"/>
          <p:cNvCxnSpPr>
            <a:stCxn id="1390" idx="4"/>
            <a:endCxn id="1393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4" name="Google Shape;1404;p68"/>
          <p:cNvCxnSpPr>
            <a:stCxn id="1394" idx="0"/>
            <a:endCxn id="1390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5" name="Google Shape;1405;p68"/>
          <p:cNvCxnSpPr>
            <a:stCxn id="1397" idx="0"/>
            <a:endCxn id="1393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6" name="Google Shape;1406;p68"/>
          <p:cNvCxnSpPr>
            <a:stCxn id="1396" idx="0"/>
            <a:endCxn id="1393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7" name="Google Shape;1407;p68"/>
          <p:cNvCxnSpPr>
            <a:stCxn id="1398" idx="0"/>
            <a:endCxn id="1394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8" name="Google Shape;1408;p68"/>
          <p:cNvCxnSpPr>
            <a:stCxn id="1399" idx="0"/>
            <a:endCxn id="1394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09" name="Google Shape;1409;p68"/>
          <p:cNvCxnSpPr>
            <a:stCxn id="1400" idx="0"/>
            <a:endCxn id="1394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0" name="Google Shape;1410;p68"/>
          <p:cNvCxnSpPr>
            <a:stCxn id="1392" idx="0"/>
            <a:endCxn id="1391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1" name="Google Shape;1411;p68"/>
          <p:cNvCxnSpPr>
            <a:stCxn id="1395" idx="0"/>
            <a:endCxn id="1392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2" name="Google Shape;1412;p68"/>
          <p:cNvCxnSpPr>
            <a:stCxn id="1401" idx="0"/>
            <a:endCxn id="1395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13" name="Google Shape;1413;p68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4" name="Google Shape;1414;p68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5" name="Google Shape;1415;p68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6" name="Google Shape;1416;p68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7" name="Google Shape;1417;p68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8" name="Google Shape;1418;p68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9" name="Google Shape;1419;p68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0" name="Google Shape;1420;p68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1" name="Google Shape;1421;p68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2" name="Google Shape;1422;p68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3" name="Google Shape;1423;p68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4" name="Google Shape;1424;p68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5" name="Google Shape;1425;p68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6" name="Google Shape;1426;p68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7" name="Google Shape;1427;p68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8" name="Google Shape;1428;p68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9" name="Google Shape;1429;p68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0" name="Google Shape;1430;p68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1" name="Google Shape;1431;p68"/>
          <p:cNvSpPr txBox="1"/>
          <p:nvPr/>
        </p:nvSpPr>
        <p:spPr>
          <a:xfrm>
            <a:off x="5949396" y="358665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α: 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Opponent picks the smallest score</a:t>
            </a:r>
            <a:endParaRPr sz="4800"/>
          </a:p>
        </p:txBody>
      </p:sp>
      <p:sp>
        <p:nvSpPr>
          <p:cNvPr id="1437" name="Google Shape;1437;p69"/>
          <p:cNvSpPr/>
          <p:nvPr/>
        </p:nvSpPr>
        <p:spPr>
          <a:xfrm>
            <a:off x="4235669" y="2404241"/>
            <a:ext cx="662152" cy="66215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8" name="Google Shape;1438;p69"/>
          <p:cNvSpPr/>
          <p:nvPr/>
        </p:nvSpPr>
        <p:spPr>
          <a:xfrm>
            <a:off x="5764924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Now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9" name="Google Shape;1439;p69"/>
          <p:cNvSpPr/>
          <p:nvPr/>
        </p:nvSpPr>
        <p:spPr>
          <a:xfrm>
            <a:off x="7288926" y="2404241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0" name="Google Shape;1440;p69"/>
          <p:cNvSpPr/>
          <p:nvPr/>
        </p:nvSpPr>
        <p:spPr>
          <a:xfrm>
            <a:off x="2953406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1" name="Google Shape;1441;p69"/>
          <p:cNvSpPr/>
          <p:nvPr/>
        </p:nvSpPr>
        <p:spPr>
          <a:xfrm>
            <a:off x="5255173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2" name="Google Shape;1442;p69"/>
          <p:cNvSpPr/>
          <p:nvPr/>
        </p:nvSpPr>
        <p:spPr>
          <a:xfrm>
            <a:off x="8424041" y="3586655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3" name="Google Shape;1443;p69"/>
          <p:cNvSpPr/>
          <p:nvPr/>
        </p:nvSpPr>
        <p:spPr>
          <a:xfrm>
            <a:off x="2953406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4" name="Google Shape;1444;p69"/>
          <p:cNvSpPr/>
          <p:nvPr/>
        </p:nvSpPr>
        <p:spPr>
          <a:xfrm>
            <a:off x="1676400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5" name="Google Shape;1445;p69"/>
          <p:cNvSpPr/>
          <p:nvPr/>
        </p:nvSpPr>
        <p:spPr>
          <a:xfrm>
            <a:off x="4435365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6" name="Google Shape;1446;p69"/>
          <p:cNvSpPr/>
          <p:nvPr/>
        </p:nvSpPr>
        <p:spPr>
          <a:xfrm>
            <a:off x="5255173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7" name="Google Shape;1447;p69"/>
          <p:cNvSpPr/>
          <p:nvPr/>
        </p:nvSpPr>
        <p:spPr>
          <a:xfrm>
            <a:off x="607498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8" name="Google Shape;1448;p69"/>
          <p:cNvSpPr/>
          <p:nvPr/>
        </p:nvSpPr>
        <p:spPr>
          <a:xfrm>
            <a:off x="8424041" y="4921469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49" name="Google Shape;1449;p69"/>
          <p:cNvCxnSpPr>
            <a:stCxn id="1438" idx="2"/>
            <a:endCxn id="1437" idx="0"/>
          </p:cNvCxnSpPr>
          <p:nvPr/>
        </p:nvCxnSpPr>
        <p:spPr>
          <a:xfrm flipH="1">
            <a:off x="4566600" y="2021764"/>
            <a:ext cx="15294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0" name="Google Shape;1450;p69"/>
          <p:cNvCxnSpPr>
            <a:stCxn id="1437" idx="4"/>
            <a:endCxn id="1440" idx="0"/>
          </p:cNvCxnSpPr>
          <p:nvPr/>
        </p:nvCxnSpPr>
        <p:spPr>
          <a:xfrm flipH="1">
            <a:off x="3284545" y="3066393"/>
            <a:ext cx="1282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1" name="Google Shape;1451;p69"/>
          <p:cNvCxnSpPr>
            <a:stCxn id="1441" idx="0"/>
            <a:endCxn id="1437" idx="4"/>
          </p:cNvCxnSpPr>
          <p:nvPr/>
        </p:nvCxnSpPr>
        <p:spPr>
          <a:xfrm rot="10800000">
            <a:off x="4566849" y="3066455"/>
            <a:ext cx="10194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2" name="Google Shape;1452;p69"/>
          <p:cNvCxnSpPr>
            <a:stCxn id="1444" idx="0"/>
            <a:endCxn id="1440" idx="2"/>
          </p:cNvCxnSpPr>
          <p:nvPr/>
        </p:nvCxnSpPr>
        <p:spPr>
          <a:xfrm rot="10800000" flipH="1">
            <a:off x="2007476" y="4248869"/>
            <a:ext cx="12771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3" name="Google Shape;1453;p69"/>
          <p:cNvCxnSpPr>
            <a:stCxn id="1443" idx="0"/>
            <a:endCxn id="1440" idx="2"/>
          </p:cNvCxnSpPr>
          <p:nvPr/>
        </p:nvCxnSpPr>
        <p:spPr>
          <a:xfrm rot="10800000">
            <a:off x="3284482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4" name="Google Shape;1454;p69"/>
          <p:cNvCxnSpPr>
            <a:stCxn id="1445" idx="0"/>
            <a:endCxn id="1441" idx="2"/>
          </p:cNvCxnSpPr>
          <p:nvPr/>
        </p:nvCxnSpPr>
        <p:spPr>
          <a:xfrm rot="10800000" flipH="1">
            <a:off x="4766441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5" name="Google Shape;1455;p69"/>
          <p:cNvCxnSpPr>
            <a:stCxn id="1446" idx="0"/>
            <a:endCxn id="1441" idx="2"/>
          </p:cNvCxnSpPr>
          <p:nvPr/>
        </p:nvCxnSpPr>
        <p:spPr>
          <a:xfrm rot="10800000">
            <a:off x="5586249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6" name="Google Shape;1456;p69"/>
          <p:cNvCxnSpPr>
            <a:stCxn id="1447" idx="0"/>
            <a:endCxn id="1441" idx="2"/>
          </p:cNvCxnSpPr>
          <p:nvPr/>
        </p:nvCxnSpPr>
        <p:spPr>
          <a:xfrm rot="10800000">
            <a:off x="5586157" y="4248869"/>
            <a:ext cx="81990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7" name="Google Shape;1457;p69"/>
          <p:cNvCxnSpPr>
            <a:stCxn id="1439" idx="0"/>
            <a:endCxn id="1438" idx="2"/>
          </p:cNvCxnSpPr>
          <p:nvPr/>
        </p:nvCxnSpPr>
        <p:spPr>
          <a:xfrm rot="10800000">
            <a:off x="6096002" y="2021741"/>
            <a:ext cx="1524000" cy="38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8" name="Google Shape;1458;p69"/>
          <p:cNvCxnSpPr>
            <a:stCxn id="1442" idx="0"/>
            <a:endCxn id="1439" idx="4"/>
          </p:cNvCxnSpPr>
          <p:nvPr/>
        </p:nvCxnSpPr>
        <p:spPr>
          <a:xfrm rot="10800000">
            <a:off x="7619917" y="3066455"/>
            <a:ext cx="1135200" cy="52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59" name="Google Shape;1459;p69"/>
          <p:cNvCxnSpPr>
            <a:stCxn id="1448" idx="0"/>
            <a:endCxn id="1442" idx="2"/>
          </p:cNvCxnSpPr>
          <p:nvPr/>
        </p:nvCxnSpPr>
        <p:spPr>
          <a:xfrm rot="10800000">
            <a:off x="8755117" y="4248869"/>
            <a:ext cx="0" cy="67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60" name="Google Shape;1460;p69"/>
          <p:cNvSpPr txBox="1"/>
          <p:nvPr/>
        </p:nvSpPr>
        <p:spPr>
          <a:xfrm>
            <a:off x="4960596" y="188682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1" name="Google Shape;1461;p69"/>
          <p:cNvSpPr txBox="1"/>
          <p:nvPr/>
        </p:nvSpPr>
        <p:spPr>
          <a:xfrm>
            <a:off x="6994349" y="1883979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2" name="Google Shape;1462;p69"/>
          <p:cNvSpPr txBox="1"/>
          <p:nvPr/>
        </p:nvSpPr>
        <p:spPr>
          <a:xfrm>
            <a:off x="3649286" y="295719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3" name="Google Shape;1463;p69"/>
          <p:cNvSpPr txBox="1"/>
          <p:nvPr/>
        </p:nvSpPr>
        <p:spPr>
          <a:xfrm>
            <a:off x="5184083" y="2999368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4" name="Google Shape;1464;p69"/>
          <p:cNvSpPr txBox="1"/>
          <p:nvPr/>
        </p:nvSpPr>
        <p:spPr>
          <a:xfrm>
            <a:off x="8369626" y="2962787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5" name="Google Shape;1465;p69"/>
          <p:cNvSpPr txBox="1"/>
          <p:nvPr/>
        </p:nvSpPr>
        <p:spPr>
          <a:xfrm>
            <a:off x="2191263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6" name="Google Shape;1466;p69"/>
          <p:cNvSpPr txBox="1"/>
          <p:nvPr/>
        </p:nvSpPr>
        <p:spPr>
          <a:xfrm>
            <a:off x="3273688" y="4391934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7" name="Google Shape;1467;p69"/>
          <p:cNvSpPr txBox="1"/>
          <p:nvPr/>
        </p:nvSpPr>
        <p:spPr>
          <a:xfrm>
            <a:off x="4734480" y="4386976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8" name="Google Shape;1468;p69"/>
          <p:cNvSpPr txBox="1"/>
          <p:nvPr/>
        </p:nvSpPr>
        <p:spPr>
          <a:xfrm>
            <a:off x="5360133" y="446676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9" name="Google Shape;1469;p69"/>
          <p:cNvSpPr txBox="1"/>
          <p:nvPr/>
        </p:nvSpPr>
        <p:spPr>
          <a:xfrm>
            <a:off x="6216438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0" name="Google Shape;1470;p69"/>
          <p:cNvSpPr txBox="1"/>
          <p:nvPr/>
        </p:nvSpPr>
        <p:spPr>
          <a:xfrm>
            <a:off x="8424041" y="4395722"/>
            <a:ext cx="2945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1" name="Google Shape;1471;p69"/>
          <p:cNvSpPr/>
          <p:nvPr/>
        </p:nvSpPr>
        <p:spPr>
          <a:xfrm>
            <a:off x="9752474" y="1359612"/>
            <a:ext cx="662152" cy="662152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2" name="Google Shape;1472;p69"/>
          <p:cNvSpPr/>
          <p:nvPr/>
        </p:nvSpPr>
        <p:spPr>
          <a:xfrm>
            <a:off x="8038550" y="1359612"/>
            <a:ext cx="662152" cy="6621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3" name="Google Shape;1473;p69"/>
          <p:cNvSpPr txBox="1"/>
          <p:nvPr/>
        </p:nvSpPr>
        <p:spPr>
          <a:xfrm>
            <a:off x="8748865" y="1506022"/>
            <a:ext cx="8991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:Player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4" name="Google Shape;1474;p69"/>
          <p:cNvSpPr txBox="1"/>
          <p:nvPr/>
        </p:nvSpPr>
        <p:spPr>
          <a:xfrm>
            <a:off x="10406490" y="1506022"/>
            <a:ext cx="12055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:Opponent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5" name="Google Shape;1475;p69"/>
          <p:cNvSpPr txBox="1"/>
          <p:nvPr/>
        </p:nvSpPr>
        <p:spPr>
          <a:xfrm>
            <a:off x="6423935" y="1367522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6" name="Google Shape;1476;p69"/>
          <p:cNvSpPr txBox="1"/>
          <p:nvPr/>
        </p:nvSpPr>
        <p:spPr>
          <a:xfrm>
            <a:off x="4881768" y="2391096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-INF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7" name="Google Shape;1477;p69"/>
          <p:cNvSpPr txBox="1"/>
          <p:nvPr/>
        </p:nvSpPr>
        <p:spPr>
          <a:xfrm>
            <a:off x="3614283" y="3586655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α: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β: INF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8" name="Google Shape;1478;p69"/>
          <p:cNvSpPr txBox="1"/>
          <p:nvPr/>
        </p:nvSpPr>
        <p:spPr>
          <a:xfrm>
            <a:off x="5949396" y="3586654"/>
            <a:ext cx="8344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α: 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β: 6</a:t>
            </a:r>
            <a:endParaRPr sz="1600"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7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Alpha-Beta Pruning</a:t>
            </a:r>
            <a:endParaRPr/>
          </a:p>
        </p:txBody>
      </p:sp>
      <p:sp>
        <p:nvSpPr>
          <p:cNvPr id="1484" name="Google Shape;1484;p70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In the example above, we use the same search tree as Minimax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By pruning, we eliminate branches I and J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However, we still get the same result on branch A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Alpha-Beta Pruning can effectively speed up the process while maintaining the same result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490" name="Google Shape;1490;p71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0C0C0C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How to design your AI</a:t>
            </a:r>
            <a:endParaRPr/>
          </a:p>
        </p:txBody>
      </p:sp>
      <p:sp>
        <p:nvSpPr>
          <p:cNvPr id="1496" name="Google Shape;1496;p72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 can refer to the random.cpp/</a:t>
            </a:r>
            <a:r>
              <a:rPr lang="en-US" dirty="0" err="1"/>
              <a:t>hpp</a:t>
            </a:r>
            <a:r>
              <a:rPr lang="en-US" dirty="0"/>
              <a:t> in the </a:t>
            </a:r>
            <a:r>
              <a:rPr lang="en-US" dirty="0" err="1"/>
              <a:t>src</a:t>
            </a:r>
            <a:r>
              <a:rPr lang="en-US" dirty="0"/>
              <a:t>/policy folder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Design your state value function in state.cpp to evaluate the board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Implement Minimax method and use your value function in the search process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Run Minimax and decide which move to output</a:t>
            </a:r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7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502" name="Google Shape;1502;p73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0C0C0C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7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Package</a:t>
            </a:r>
            <a:endParaRPr/>
          </a:p>
        </p:txBody>
      </p:sp>
      <p:sp>
        <p:nvSpPr>
          <p:cNvPr id="1508" name="Google Shape;1508;p74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You don’t need to implement all the thing by yourself, we will provide some useful utilities and then you can focus on state value function and the tree search algorithm.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You will get: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Game runner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State class 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⬩"/>
            </a:pPr>
            <a:r>
              <a:rPr lang="en-US"/>
              <a:t>a native method to get all legal actions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⬩"/>
            </a:pPr>
            <a:r>
              <a:rPr lang="en-US"/>
              <a:t>Generate new state based on action and state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⬩"/>
            </a:pPr>
            <a:r>
              <a:rPr lang="en-US"/>
              <a:t>You need to impl state value function by your self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An example player (with random choose policy)</a:t>
            </a:r>
            <a:endParaRPr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Package – How to run it</a:t>
            </a:r>
            <a:endParaRPr/>
          </a:p>
        </p:txBody>
      </p:sp>
      <p:sp>
        <p:nvSpPr>
          <p:cNvPr id="1514" name="Google Shape;1514;p75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Despite the source files, you will also get some additional files: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Makefile – help you to compile the project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.gitignore – if you need to push your code to github, this can help you ignore some files when you push it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You can modify your Makefile, but you should make sure it can compile on TAs environment.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With Makefile and make utils (more details in environment setup document), you can compile your code with make</a:t>
            </a:r>
            <a:endParaRPr/>
          </a:p>
        </p:txBody>
      </p:sp>
      <p:pic>
        <p:nvPicPr>
          <p:cNvPr id="1515" name="Google Shape;1515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68" y="5187612"/>
            <a:ext cx="12048264" cy="120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7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Package – How to run it</a:t>
            </a:r>
            <a:endParaRPr/>
          </a:p>
        </p:txBody>
      </p:sp>
      <p:sp>
        <p:nvSpPr>
          <p:cNvPr id="1521" name="Google Shape;1521;p7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6568004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After running the make all command and compile your program successfully, you can use this command to run the game:</a:t>
            </a:r>
            <a:endParaRPr dirty="0"/>
          </a:p>
        </p:txBody>
      </p:sp>
      <p:sp>
        <p:nvSpPr>
          <p:cNvPr id="1522" name="Google Shape;1522;p76"/>
          <p:cNvSpPr txBox="1"/>
          <p:nvPr/>
        </p:nvSpPr>
        <p:spPr>
          <a:xfrm>
            <a:off x="7619104" y="1825625"/>
            <a:ext cx="60942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727"/>
              </a:buClr>
              <a:buSzPts val="2400"/>
              <a:buFont typeface="Noto Sans Symbols"/>
              <a:buChar char="⬩"/>
            </a:pPr>
            <a:r>
              <a:rPr lang="en-US" sz="2400" b="0" i="0" u="none" strike="noStrike" cap="none">
                <a:solidFill>
                  <a:srgbClr val="5E5E5E"/>
                </a:solidFill>
                <a:latin typeface="Open Sans"/>
                <a:ea typeface="Open Sans"/>
                <a:cs typeface="Open Sans"/>
                <a:sym typeface="Open Sans"/>
              </a:rPr>
              <a:t>And it will start running!</a:t>
            </a:r>
            <a:endParaRPr sz="2400" b="0" i="0" u="none" strike="noStrike" cap="none">
              <a:solidFill>
                <a:srgbClr val="5E5E5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23" name="Google Shape;1523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608" y="3149651"/>
            <a:ext cx="6364038" cy="88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8624" y="2516254"/>
            <a:ext cx="4042751" cy="397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7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0" name="Google Shape;1530;p7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1" name="Google Shape;1531;p77"/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2" name="Google Shape;1532;p77"/>
          <p:cNvSpPr txBox="1">
            <a:spLocks noGrp="1"/>
          </p:cNvSpPr>
          <p:nvPr>
            <p:ph type="title"/>
          </p:nvPr>
        </p:nvSpPr>
        <p:spPr>
          <a:xfrm>
            <a:off x="422897" y="539496"/>
            <a:ext cx="5228393" cy="78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Package – State</a:t>
            </a:r>
            <a:endParaRPr sz="4800"/>
          </a:p>
        </p:txBody>
      </p:sp>
      <p:sp>
        <p:nvSpPr>
          <p:cNvPr id="1533" name="Google Shape;1533;p77"/>
          <p:cNvSpPr txBox="1">
            <a:spLocks noGrp="1"/>
          </p:cNvSpPr>
          <p:nvPr>
            <p:ph type="body" idx="1"/>
          </p:nvPr>
        </p:nvSpPr>
        <p:spPr>
          <a:xfrm>
            <a:off x="422897" y="1324303"/>
            <a:ext cx="5228392" cy="461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/>
              <a:t>And now, you should start your project.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/>
              <a:t>You can check the state class first</a:t>
            </a:r>
            <a:endParaRPr dirty="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 err="1"/>
              <a:t>next_state</a:t>
            </a:r>
            <a:r>
              <a:rPr lang="en-US" sz="1800" dirty="0"/>
              <a:t> can generate new state based on a move</a:t>
            </a:r>
            <a:endParaRPr dirty="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 err="1"/>
              <a:t>get_legal_actions</a:t>
            </a:r>
            <a:r>
              <a:rPr lang="en-US" sz="1800" dirty="0"/>
              <a:t> will generate all legal actions of this state and store them in </a:t>
            </a:r>
            <a:r>
              <a:rPr lang="en-US" sz="1800" dirty="0" err="1"/>
              <a:t>legal_actions</a:t>
            </a:r>
            <a:r>
              <a:rPr lang="en-US" sz="1800" dirty="0"/>
              <a:t>.</a:t>
            </a:r>
            <a:endParaRPr dirty="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/>
              <a:t>evaluate is the state value function you need to implement</a:t>
            </a:r>
            <a:endParaRPr dirty="0"/>
          </a:p>
          <a:p>
            <a:pPr marL="228600" lvl="0" indent="-114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 dirty="0"/>
          </a:p>
        </p:txBody>
      </p:sp>
      <p:sp>
        <p:nvSpPr>
          <p:cNvPr id="1534" name="Google Shape;1534;p77"/>
          <p:cNvSpPr/>
          <p:nvPr/>
        </p:nvSpPr>
        <p:spPr>
          <a:xfrm rot="10800000">
            <a:off x="6095999" y="695340"/>
            <a:ext cx="5391683" cy="5476855"/>
          </a:xfrm>
          <a:prstGeom prst="rect">
            <a:avLst/>
          </a:prstGeom>
          <a:solidFill>
            <a:srgbClr val="418AB3">
              <a:alpha val="25098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35" name="Google Shape;1535;p77"/>
          <p:cNvCxnSpPr/>
          <p:nvPr/>
        </p:nvCxnSpPr>
        <p:spPr>
          <a:xfrm rot="10800000">
            <a:off x="11496184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cxnSp>
        <p:nvCxnSpPr>
          <p:cNvPr id="1536" name="Google Shape;1536;p77"/>
          <p:cNvCxnSpPr/>
          <p:nvPr/>
        </p:nvCxnSpPr>
        <p:spPr>
          <a:xfrm>
            <a:off x="1524" y="6172200"/>
            <a:ext cx="12192000" cy="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pic>
        <p:nvPicPr>
          <p:cNvPr id="1537" name="Google Shape;1537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096" y="855138"/>
            <a:ext cx="3881712" cy="508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7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3" name="Google Shape;1543;p78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4" name="Google Shape;1544;p78"/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5" name="Google Shape;1545;p78"/>
          <p:cNvSpPr txBox="1">
            <a:spLocks noGrp="1"/>
          </p:cNvSpPr>
          <p:nvPr>
            <p:ph type="title"/>
          </p:nvPr>
        </p:nvSpPr>
        <p:spPr>
          <a:xfrm>
            <a:off x="422898" y="302859"/>
            <a:ext cx="4793546" cy="288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Open Sans Light"/>
              <a:buNone/>
            </a:pPr>
            <a:r>
              <a:rPr lang="en-US" sz="4800"/>
              <a:t>Package - Policy</a:t>
            </a:r>
            <a:endParaRPr sz="4800"/>
          </a:p>
        </p:txBody>
      </p:sp>
      <p:sp>
        <p:nvSpPr>
          <p:cNvPr id="1546" name="Google Shape;1546;p78"/>
          <p:cNvSpPr txBox="1">
            <a:spLocks noGrp="1"/>
          </p:cNvSpPr>
          <p:nvPr>
            <p:ph type="body" idx="1"/>
          </p:nvPr>
        </p:nvSpPr>
        <p:spPr>
          <a:xfrm>
            <a:off x="422898" y="3866029"/>
            <a:ext cx="4548656" cy="258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⬩"/>
            </a:pPr>
            <a:r>
              <a:rPr lang="en-US" sz="1800" dirty="0"/>
              <a:t>If this project, you should implement your own policies. And you will get a random policy  for example</a:t>
            </a:r>
            <a:endParaRPr dirty="0"/>
          </a:p>
        </p:txBody>
      </p:sp>
      <p:cxnSp>
        <p:nvCxnSpPr>
          <p:cNvPr id="1547" name="Google Shape;1547;p78"/>
          <p:cNvCxnSpPr/>
          <p:nvPr/>
        </p:nvCxnSpPr>
        <p:spPr>
          <a:xfrm rot="10800000">
            <a:off x="11496184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cxnSp>
        <p:nvCxnSpPr>
          <p:cNvPr id="1548" name="Google Shape;1548;p78"/>
          <p:cNvCxnSpPr/>
          <p:nvPr/>
        </p:nvCxnSpPr>
        <p:spPr>
          <a:xfrm>
            <a:off x="1524" y="6172200"/>
            <a:ext cx="12192000" cy="0"/>
          </a:xfrm>
          <a:prstGeom prst="straightConnector1">
            <a:avLst/>
          </a:prstGeom>
          <a:noFill/>
          <a:ln w="9525" cap="rnd" cmpd="sng">
            <a:solidFill>
              <a:srgbClr val="418AB3"/>
            </a:solidFill>
            <a:prstDash val="dash"/>
            <a:miter lim="8000"/>
            <a:headEnd type="none" w="sm" len="sm"/>
            <a:tailEnd type="none" w="sm" len="sm"/>
          </a:ln>
        </p:spPr>
      </p:cxnSp>
      <p:sp>
        <p:nvSpPr>
          <p:cNvPr id="1549" name="Google Shape;1549;p78"/>
          <p:cNvSpPr/>
          <p:nvPr/>
        </p:nvSpPr>
        <p:spPr>
          <a:xfrm rot="10800000">
            <a:off x="6109854" y="685796"/>
            <a:ext cx="5391685" cy="5492009"/>
          </a:xfrm>
          <a:prstGeom prst="rect">
            <a:avLst/>
          </a:prstGeom>
          <a:solidFill>
            <a:srgbClr val="418AB3">
              <a:alpha val="2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50" name="Google Shape;1550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8612" y="746786"/>
            <a:ext cx="3594167" cy="5364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7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556" name="Google Shape;1556;p79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chemeClr val="dk1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8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code</a:t>
            </a:r>
            <a:endParaRPr/>
          </a:p>
        </p:txBody>
      </p:sp>
      <p:sp>
        <p:nvSpPr>
          <p:cNvPr id="1562" name="Google Shape;1562;p80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In this project you should do these things: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1, design your own state value function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2, implement MiniMax, AlphaBeta, PVS and quiescence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3, utilize your algorithm and state value function to make a strong AI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8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code</a:t>
            </a:r>
            <a:endParaRPr/>
          </a:p>
        </p:txBody>
      </p:sp>
      <p:sp>
        <p:nvSpPr>
          <p:cNvPr id="1568" name="Google Shape;1568;p81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If you are not satisfied with the basic algorithms, you can try some more advanced methods (MCTS, NNUE). However, make sure you can explain how your algorithms work during the demo.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If you cannot complete the harder algorithms, implementing the basic ones also gives you some score.</a:t>
            </a: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8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code</a:t>
            </a:r>
            <a:endParaRPr/>
          </a:p>
        </p:txBody>
      </p:sp>
      <p:sp>
        <p:nvSpPr>
          <p:cNvPr id="1574" name="Google Shape;1574;p82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 will lose immediately if your program outputs an invalid move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Time limit for each move is 10 seconds, and the memory limit is 4GB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 can keep output moves within a limited time. Only the last move is used by the game runner.</a:t>
            </a:r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8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code</a:t>
            </a:r>
            <a:endParaRPr/>
          </a:p>
        </p:txBody>
      </p:sp>
      <p:sp>
        <p:nvSpPr>
          <p:cNvPr id="1580" name="Google Shape;1580;p83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 cannot use these things in your code: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Third party library (only standard library are acceptable)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Inline ASM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Multi thread/Multi process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Vectorize operation (Like AVX)</a:t>
            </a: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84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structure</a:t>
            </a:r>
            <a:endParaRPr/>
          </a:p>
        </p:txBody>
      </p:sp>
      <p:sp>
        <p:nvSpPr>
          <p:cNvPr id="1586" name="Google Shape;1586;p84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6250763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Please use C++ and write your program with the structure in the folder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Make sure to </a:t>
            </a:r>
            <a:r>
              <a:rPr lang="en-US" b="1" dirty="0">
                <a:solidFill>
                  <a:srgbClr val="FF0000"/>
                </a:solidFill>
              </a:rPr>
              <a:t>make a copy </a:t>
            </a:r>
            <a:r>
              <a:rPr lang="en-US" dirty="0">
                <a:solidFill>
                  <a:srgbClr val="FF0000"/>
                </a:solidFill>
              </a:rPr>
              <a:t>of the policy you want to submit and rename them as “submission.cpp”.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br>
              <a:rPr lang="en-US" dirty="0"/>
            </a:br>
            <a:br>
              <a:rPr lang="en-US" dirty="0"/>
            </a:br>
            <a:endParaRPr dirty="0"/>
          </a:p>
        </p:txBody>
      </p:sp>
      <p:pic>
        <p:nvPicPr>
          <p:cNvPr id="1587" name="Google Shape;1587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7355" y="277116"/>
            <a:ext cx="2127330" cy="6463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85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structure</a:t>
            </a:r>
            <a:endParaRPr/>
          </a:p>
        </p:txBody>
      </p:sp>
      <p:sp>
        <p:nvSpPr>
          <p:cNvPr id="1593" name="Google Shape;1593;p85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Your program will be compiled in a GNU/Linux environment by: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Please make sure your program can be compiled by the command above with no errors. </a:t>
            </a:r>
            <a:br>
              <a:rPr lang="en-US" dirty="0"/>
            </a:br>
            <a:r>
              <a:rPr lang="en-US" dirty="0"/>
              <a:t>(If you don’t change the </a:t>
            </a:r>
            <a:r>
              <a:rPr lang="en-US" dirty="0" err="1"/>
              <a:t>makefile</a:t>
            </a:r>
            <a:r>
              <a:rPr lang="en-US" dirty="0"/>
              <a:t>, just use “make” command and see if there is any error.)</a:t>
            </a:r>
            <a:endParaRPr dirty="0"/>
          </a:p>
        </p:txBody>
      </p:sp>
      <p:pic>
        <p:nvPicPr>
          <p:cNvPr id="1594" name="Google Shape;159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24" y="2611974"/>
            <a:ext cx="11090340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86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Requirements - Report and Demo</a:t>
            </a:r>
            <a:endParaRPr/>
          </a:p>
        </p:txBody>
      </p:sp>
      <p:sp>
        <p:nvSpPr>
          <p:cNvPr id="1600" name="Google Shape;1600;p86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You should write a report to elaborate on how you design your AI</a:t>
            </a:r>
            <a:endParaRPr dirty="0"/>
          </a:p>
          <a:p>
            <a:pPr marL="228600" lvl="0" indent="-8763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b="0" i="0" dirty="0">
                <a:latin typeface="Open Sans"/>
                <a:ea typeface="Open Sans"/>
                <a:cs typeface="Open Sans"/>
                <a:sym typeface="Open Sans"/>
              </a:rPr>
              <a:t>If you have implemented NNUE or MCTS, please provide a brief description in your report of how it was implemented, along with code explanations if possible.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228600" lvl="0" indent="-8763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The report is not directly graded, but is your </a:t>
            </a:r>
            <a:r>
              <a:rPr lang="en-US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only available reference through the TA demo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 (You cannot refer to your code in demo)</a:t>
            </a:r>
            <a:endParaRPr dirty="0"/>
          </a:p>
          <a:p>
            <a:pPr marL="228600" lvl="0" indent="-8763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You must attend the demo and answer the questions from TA</a:t>
            </a:r>
            <a:endParaRPr dirty="0"/>
          </a:p>
          <a:p>
            <a:pPr marL="228600" lvl="0" indent="-8763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demo date and method will be announced soon</a:t>
            </a:r>
            <a:endParaRPr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87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606" name="Google Shape;1606;p87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chemeClr val="dk1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88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Grading</a:t>
            </a:r>
            <a:endParaRPr/>
          </a:p>
        </p:txBody>
      </p:sp>
      <p:sp>
        <p:nvSpPr>
          <p:cNvPr id="1612" name="Google Shape;1612;p88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The project accounts for 15 points of your total grade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Design of your state value function =&gt; +1 point</a:t>
            </a:r>
            <a:endParaRPr sz="900"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⬩"/>
            </a:pPr>
            <a:r>
              <a:rPr lang="en-US" dirty="0">
                <a:solidFill>
                  <a:srgbClr val="FF0000"/>
                </a:solidFill>
              </a:rPr>
              <a:t>Implement Tree search (Minimax) =&gt; +2 point</a:t>
            </a:r>
            <a:endParaRPr sz="900"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⬩"/>
            </a:pPr>
            <a:r>
              <a:rPr lang="en-US" dirty="0"/>
              <a:t>Implement Alpha-Beta Pruning =&gt; +1 point</a:t>
            </a:r>
            <a:endParaRPr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Beat every baseline =&gt; +8 points </a:t>
            </a:r>
            <a:br>
              <a:rPr lang="en-US" dirty="0"/>
            </a:br>
            <a:r>
              <a:rPr lang="en-US" dirty="0"/>
              <a:t>(1.5 point for each 4 baselines, 2point if you beat all the baselines with both white and black)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Implement PVS =&gt; +2 point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Quiescence =&gt; +1 point</a:t>
            </a:r>
            <a:endParaRPr dirty="0"/>
          </a:p>
        </p:txBody>
      </p:sp>
      <p:sp>
        <p:nvSpPr>
          <p:cNvPr id="1613" name="Google Shape;1613;p88"/>
          <p:cNvSpPr txBox="1"/>
          <p:nvPr/>
        </p:nvSpPr>
        <p:spPr>
          <a:xfrm>
            <a:off x="7862900" y="2504625"/>
            <a:ext cx="342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TODOs in hackathon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89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Grading - baselines</a:t>
            </a:r>
            <a:endParaRPr/>
          </a:p>
        </p:txBody>
      </p:sp>
      <p:sp>
        <p:nvSpPr>
          <p:cNvPr id="1619" name="Google Shape;1619;p89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We have 4 baselines: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Weak MiniMax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Strong MiniMax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AlphaBeta</a:t>
            </a:r>
            <a:endParaRPr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/>
              <a:t>PVS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Your program will play with baselines for both white and black.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If you can get 1win + 1draw (or 2win), you can go to next baselines and get the score.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/>
              <a:t>If you can beat all the baselines with 8wins, you get final 2 points.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90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Grading Bonus</a:t>
            </a:r>
            <a:endParaRPr/>
          </a:p>
        </p:txBody>
      </p:sp>
      <p:sp>
        <p:nvSpPr>
          <p:cNvPr id="1625" name="Google Shape;1625;p90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(Bonus) Use version control software =&gt; +1 point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You need to push your code to </a:t>
            </a:r>
            <a:r>
              <a:rPr lang="en-US" dirty="0" err="1"/>
              <a:t>github</a:t>
            </a:r>
            <a:r>
              <a:rPr lang="en-US" dirty="0"/>
              <a:t> as submission. but if you also use </a:t>
            </a:r>
            <a:r>
              <a:rPr lang="en-US" dirty="0" err="1"/>
              <a:t>github+git</a:t>
            </a:r>
            <a:r>
              <a:rPr lang="en-US" dirty="0"/>
              <a:t> as version control software and has at least 3 commits, you will get this point.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(Bonus) Class ranking =&gt; At most +2 points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You can attend the class ranking if you beat all baselines (8wins).</a:t>
            </a:r>
            <a:endParaRPr dirty="0"/>
          </a:p>
          <a:p>
            <a:pPr marL="68580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⬩"/>
            </a:pPr>
            <a:r>
              <a:rPr lang="en-US" dirty="0"/>
              <a:t>Your AI will play against other </a:t>
            </a:r>
            <a:r>
              <a:rPr lang="en-US" dirty="0" err="1"/>
              <a:t>Ais</a:t>
            </a:r>
            <a:r>
              <a:rPr lang="en-US" dirty="0"/>
              <a:t> of your classmates and gain bonus score according to your ranking.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(Bonus) Beat the visible boss =&gt; + 1 point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 dirty="0"/>
              <a:t>(Bonus) Beat the secret boss =&gt; + 2 point</a:t>
            </a:r>
            <a:endParaRPr dirty="0"/>
          </a:p>
          <a:p>
            <a:pPr marL="228600" lvl="0" indent="-76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91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Grading Plagiarism </a:t>
            </a:r>
            <a:endParaRPr/>
          </a:p>
        </p:txBody>
      </p:sp>
      <p:sp>
        <p:nvSpPr>
          <p:cNvPr id="1631" name="Google Shape;1631;p91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⬩"/>
            </a:pPr>
            <a:r>
              <a:rPr lang="en-US" b="0" i="0"/>
              <a:t>We will compare the code from both classes and previous years to detect plagiarism.</a:t>
            </a:r>
            <a:endParaRPr/>
          </a:p>
          <a:p>
            <a:pPr marL="228600" lvl="0" indent="-88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endParaRPr sz="2200" b="0" i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⬩"/>
            </a:pPr>
            <a:r>
              <a:rPr lang="en-US">
                <a:solidFill>
                  <a:srgbClr val="FF0000"/>
                </a:solidFill>
              </a:rPr>
              <a:t>If plagiarism is found, all involved submissions will receive a score of 0, regardless of who copied from whom.</a:t>
            </a:r>
            <a:endParaRPr b="0" i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92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637" name="Google Shape;1637;p92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Introduction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Chess and Mini Chess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State Value Function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Minimax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Alpha-Beta Pruning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How To Design Your AI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Package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Requirements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rgbClr val="7F7F7F"/>
                </a:solidFill>
              </a:rPr>
              <a:t>Grading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Open Sans Light"/>
              <a:buAutoNum type="arabicPeriod"/>
            </a:pPr>
            <a:r>
              <a:rPr lang="en-US">
                <a:solidFill>
                  <a:schemeClr val="dk1"/>
                </a:solidFill>
              </a:rPr>
              <a:t>Submission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93"/>
          <p:cNvSpPr txBox="1">
            <a:spLocks noGrp="1"/>
          </p:cNvSpPr>
          <p:nvPr>
            <p:ph type="title"/>
          </p:nvPr>
        </p:nvSpPr>
        <p:spPr>
          <a:xfrm>
            <a:off x="420624" y="365125"/>
            <a:ext cx="105430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Submission</a:t>
            </a:r>
            <a:endParaRPr/>
          </a:p>
        </p:txBody>
      </p:sp>
      <p:sp>
        <p:nvSpPr>
          <p:cNvPr id="1643" name="Google Shape;1643;p93"/>
          <p:cNvSpPr txBox="1">
            <a:spLocks noGrp="1"/>
          </p:cNvSpPr>
          <p:nvPr>
            <p:ph type="body" idx="1"/>
          </p:nvPr>
        </p:nvSpPr>
        <p:spPr>
          <a:xfrm>
            <a:off x="420625" y="1825625"/>
            <a:ext cx="10543031" cy="420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⬩"/>
            </a:pPr>
            <a:r>
              <a:rPr lang="en-US" b="0" i="0" dirty="0"/>
              <a:t>Submit the report to Mini Project 2 </a:t>
            </a:r>
            <a:r>
              <a:rPr lang="en-US" b="0" i="0" dirty="0" err="1"/>
              <a:t>繳交區on</a:t>
            </a:r>
            <a:r>
              <a:rPr lang="en-US" b="0" i="0" dirty="0"/>
              <a:t> </a:t>
            </a:r>
            <a:r>
              <a:rPr lang="en-US" b="0" i="0" dirty="0" err="1"/>
              <a:t>eeclass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b="0" i="0" dirty="0"/>
              <a:t>	File name:  &lt;</a:t>
            </a:r>
            <a:r>
              <a:rPr lang="en-US" b="0" i="0" dirty="0" err="1"/>
              <a:t>student_id</a:t>
            </a:r>
            <a:r>
              <a:rPr lang="en-US" b="0" i="0" dirty="0"/>
              <a:t>&gt;_project2.pdf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	Ex: 114000000_project2.pdf</a:t>
            </a:r>
            <a:endParaRPr b="0" i="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b="0" i="0"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b="0" i="0" dirty="0">
                <a:solidFill>
                  <a:srgbClr val="FF0000"/>
                </a:solidFill>
              </a:rPr>
              <a:t>Deadline: 6/20 </a:t>
            </a:r>
            <a:r>
              <a:rPr lang="en-US" b="0" i="0" dirty="0"/>
              <a:t>(both report and google form)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b="0" i="0" dirty="0">
                <a:solidFill>
                  <a:srgbClr val="FF0000"/>
                </a:solidFill>
              </a:rPr>
              <a:t>Late submissions within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="0" i="0" dirty="0">
                <a:solidFill>
                  <a:srgbClr val="FF0000"/>
                </a:solidFill>
              </a:rPr>
              <a:t> hours will receive a 40% deduction in score.(</a:t>
            </a:r>
            <a:r>
              <a:rPr lang="en-US" b="0" i="0" dirty="0" err="1">
                <a:solidFill>
                  <a:srgbClr val="FF0000"/>
                </a:solidFill>
              </a:rPr>
              <a:t>六折</a:t>
            </a:r>
            <a:r>
              <a:rPr lang="en-US" b="0" i="0" dirty="0">
                <a:solidFill>
                  <a:srgbClr val="FF0000"/>
                </a:solidFill>
              </a:rPr>
              <a:t>)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⬩"/>
            </a:pPr>
            <a:r>
              <a:rPr lang="en-US" dirty="0">
                <a:solidFill>
                  <a:srgbClr val="FF0000"/>
                </a:solidFill>
              </a:rPr>
              <a:t>Late s</a:t>
            </a:r>
            <a:r>
              <a:rPr lang="en-US" b="0" i="0" dirty="0">
                <a:solidFill>
                  <a:srgbClr val="FF0000"/>
                </a:solidFill>
              </a:rPr>
              <a:t>ubmissions more than 2 hours will receive a score of 0.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94"/>
          <p:cNvSpPr txBox="1">
            <a:spLocks noGrp="1"/>
          </p:cNvSpPr>
          <p:nvPr>
            <p:ph type="ctrTitle"/>
          </p:nvPr>
        </p:nvSpPr>
        <p:spPr>
          <a:xfrm>
            <a:off x="1524000" y="14635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Open Sans Light"/>
              <a:buNone/>
            </a:pPr>
            <a:r>
              <a:rPr lang="en-US"/>
              <a:t>Happy Coding!</a:t>
            </a:r>
            <a:endParaRPr/>
          </a:p>
        </p:txBody>
      </p:sp>
      <p:sp>
        <p:nvSpPr>
          <p:cNvPr id="1649" name="Google Shape;1649;p94"/>
          <p:cNvSpPr txBox="1">
            <a:spLocks noGrp="1"/>
          </p:cNvSpPr>
          <p:nvPr>
            <p:ph type="subTitle" idx="1"/>
          </p:nvPr>
        </p:nvSpPr>
        <p:spPr>
          <a:xfrm>
            <a:off x="1524000" y="394323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AnalogousFromLightSeedRightStep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3383</Words>
  <Application>Microsoft Office PowerPoint</Application>
  <PresentationFormat>寬螢幕</PresentationFormat>
  <Paragraphs>1009</Paragraphs>
  <Slides>82</Slides>
  <Notes>82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82</vt:i4>
      </vt:variant>
    </vt:vector>
  </HeadingPairs>
  <TitlesOfParts>
    <vt:vector size="88" baseType="lpstr">
      <vt:lpstr>Open Sans Light</vt:lpstr>
      <vt:lpstr>Arial</vt:lpstr>
      <vt:lpstr>Noto Sans Symbols</vt:lpstr>
      <vt:lpstr>Open Sans</vt:lpstr>
      <vt:lpstr>Helvetica Neue</vt:lpstr>
      <vt:lpstr>OffsetVTI</vt:lpstr>
      <vt:lpstr>Mini Project 2 Mini Chess AI</vt:lpstr>
      <vt:lpstr>Outline</vt:lpstr>
      <vt:lpstr>Outline</vt:lpstr>
      <vt:lpstr>Introduction</vt:lpstr>
      <vt:lpstr>Outline</vt:lpstr>
      <vt:lpstr>Chess</vt:lpstr>
      <vt:lpstr>Mini Chess</vt:lpstr>
      <vt:lpstr>Basic rules </vt:lpstr>
      <vt:lpstr>Basic rules </vt:lpstr>
      <vt:lpstr>Piece Movement</vt:lpstr>
      <vt:lpstr>Piece Movement</vt:lpstr>
      <vt:lpstr>Piece Movement</vt:lpstr>
      <vt:lpstr>Piece Movement</vt:lpstr>
      <vt:lpstr>Outline</vt:lpstr>
      <vt:lpstr>State Value Function</vt:lpstr>
      <vt:lpstr>State Value Function</vt:lpstr>
      <vt:lpstr>State Value Function</vt:lpstr>
      <vt:lpstr>State Value Function</vt:lpstr>
      <vt:lpstr>Use value function to pick the next move</vt:lpstr>
      <vt:lpstr>Use value function to pick the next move</vt:lpstr>
      <vt:lpstr>Use value function to pick the next move</vt:lpstr>
      <vt:lpstr>Outline</vt:lpstr>
      <vt:lpstr>Minimax</vt:lpstr>
      <vt:lpstr>Minimax</vt:lpstr>
      <vt:lpstr>Minimax Pseudocode</vt:lpstr>
      <vt:lpstr>Example</vt:lpstr>
      <vt:lpstr>Evaluate score at leaves</vt:lpstr>
      <vt:lpstr>Evaluate score at leaves</vt:lpstr>
      <vt:lpstr>Player picks the largest score</vt:lpstr>
      <vt:lpstr>Evaluate score at leaves</vt:lpstr>
      <vt:lpstr>Evaluate score at leaves</vt:lpstr>
      <vt:lpstr>Evaluate score at leaves</vt:lpstr>
      <vt:lpstr>Player picks the largest score</vt:lpstr>
      <vt:lpstr>Opponent picks the smallest score</vt:lpstr>
      <vt:lpstr>Evaluate score at leaves</vt:lpstr>
      <vt:lpstr>Player picks the largest score</vt:lpstr>
      <vt:lpstr>Opponent picks the smallest score</vt:lpstr>
      <vt:lpstr>Move A has the largest score</vt:lpstr>
      <vt:lpstr>Player picks move A to be the next move</vt:lpstr>
      <vt:lpstr>Outline</vt:lpstr>
      <vt:lpstr>Alpha-Beta Pruning</vt:lpstr>
      <vt:lpstr>Alpha-Beta Pruning</vt:lpstr>
      <vt:lpstr>Alpha-Beta Pruning Pseudocode</vt:lpstr>
      <vt:lpstr>Alpha-Beta Pruning</vt:lpstr>
      <vt:lpstr>Alpha-Beta Pruning</vt:lpstr>
      <vt:lpstr>Example</vt:lpstr>
      <vt:lpstr>Evaluate score at leaves</vt:lpstr>
      <vt:lpstr>Update alpha</vt:lpstr>
      <vt:lpstr>Evaluate score at leaves</vt:lpstr>
      <vt:lpstr>Update alpha</vt:lpstr>
      <vt:lpstr>Player picks the largest score</vt:lpstr>
      <vt:lpstr>Update beta</vt:lpstr>
      <vt:lpstr>Propagate alpha and beta values</vt:lpstr>
      <vt:lpstr>Evaluate score at leaves</vt:lpstr>
      <vt:lpstr>Update alpha</vt:lpstr>
      <vt:lpstr>Alpha &gt;= beta in a player node, stop searching</vt:lpstr>
      <vt:lpstr>Opponent picks the smallest score</vt:lpstr>
      <vt:lpstr>Alpha-Beta Pruning</vt:lpstr>
      <vt:lpstr>Outline</vt:lpstr>
      <vt:lpstr>How to design your AI</vt:lpstr>
      <vt:lpstr>Outline</vt:lpstr>
      <vt:lpstr>Package</vt:lpstr>
      <vt:lpstr>Package – How to run it</vt:lpstr>
      <vt:lpstr>Package – How to run it</vt:lpstr>
      <vt:lpstr>Package – State</vt:lpstr>
      <vt:lpstr>Package - Policy</vt:lpstr>
      <vt:lpstr>Outline</vt:lpstr>
      <vt:lpstr>Requirements - code</vt:lpstr>
      <vt:lpstr>Requirements - code</vt:lpstr>
      <vt:lpstr>Requirements - code</vt:lpstr>
      <vt:lpstr>Requirements - code</vt:lpstr>
      <vt:lpstr>Requirements - structure</vt:lpstr>
      <vt:lpstr>Requirements - structure</vt:lpstr>
      <vt:lpstr>Requirements - Report and Demo</vt:lpstr>
      <vt:lpstr>Outline</vt:lpstr>
      <vt:lpstr>Grading</vt:lpstr>
      <vt:lpstr>Grading - baselines</vt:lpstr>
      <vt:lpstr>Grading Bonus</vt:lpstr>
      <vt:lpstr>Grading Plagiarism </vt:lpstr>
      <vt:lpstr>Outline</vt:lpstr>
      <vt:lpstr>Submission</vt:lpstr>
      <vt:lpstr>Happy Coding!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2 Mini Chess AI</dc:title>
  <cp:lastModifiedBy>妤函 陳</cp:lastModifiedBy>
  <cp:revision>9</cp:revision>
  <dcterms:modified xsi:type="dcterms:W3CDTF">2026-05-29T07:06:07Z</dcterms:modified>
</cp:coreProperties>
</file>